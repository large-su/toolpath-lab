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58" r:id="rId9"/>
    <p:sldId id="259" r:id="rId10"/>
    <p:sldId id="260" r:id="rId11"/>
    <p:sldId id="261" r:id="rId12"/>
    <p:sldId id="263" r:id="rId13"/>
    <p:sldId id="26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5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预计用时（秒）</c:v>
          </c:tx>
          <c:spPr>
            <a:solidFill>
              <a:srgbClr val="064F7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2100" b="1">
                    <a:solidFill>
                      <a:srgbClr val="064F7C"/>
                    </a:solidFill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螺旋</c:v>
                </c:pt>
                <c:pt idx="1">
                  <c:v>往复栅格</c:v>
                </c:pt>
                <c:pt idx="2">
                  <c:v>单向栅格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125.17</c:v>
                </c:pt>
                <c:pt idx="1">
                  <c:v>121.06</c:v>
                </c:pt>
                <c:pt idx="2">
                  <c:v>134.91999999999999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887-4B69-B171-32A9C69883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50"/>
          <c:min val="0"/>
        </c:scaling>
        <c:delete val="0"/>
        <c:axPos val="l"/>
        <c:majorGridlines>
          <c:spPr>
            <a:ln w="9525">
              <a:solidFill>
                <a:srgbClr val="DCE6EB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50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建议讲述约15秒。本次汇报包括两项作业：UG刀路编程，以及在ToolpathLab中开发刀路规划和Blender动画导出功能。下面先介绍加工编程，再展示平台的实际成果。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建议讲述约20秒。UG部分完成了包容块创建、粗加工和精加工的刀路设置，并观察加工前后的变化。功能开发部分在课程提供的平台上加入圆形螺旋刀路、不同走刀方式对比，以及导入Blender进行动画展示的功能。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建议讲述约</a:t>
            </a:r>
            <a:r>
              <a:rPr lang="en-US" altLang="zh-CN"/>
              <a:t>15</a:t>
            </a:r>
            <a:r>
              <a:rPr lang="zh-CN" altLang="en-US"/>
              <a:t>秒。首先创建包容块，作为加工前的毛坯范围。右侧为包容块与零件的关系，后续刀路设置在这个基础上进行。</a:t>
            </a:r>
          </a:p>
          <a:p>
            <a:r>
              <a:rPr lang="zh-CN" altLang="en-US"/>
              <a:t>来源：原</a:t>
            </a:r>
            <a:r>
              <a:rPr lang="en-US" altLang="zh-CN"/>
              <a:t>UG</a:t>
            </a:r>
            <a:r>
              <a:rPr lang="zh-CN" altLang="en-US"/>
              <a:t>刀路编程</a:t>
            </a:r>
            <a:r>
              <a:rPr lang="en-US" altLang="zh-CN"/>
              <a:t>.pptx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页。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7A3B-5BCC-4C3A-AD95-98C9CFBA0B3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3160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2F53D-2CA7-4568-394A-494D9F813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A743034-076E-D4FB-B523-1C1C1EA2E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B9C954-0EF1-FBEB-E965-7B1AA0CA5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建议讲述约</a:t>
            </a:r>
            <a:r>
              <a:rPr lang="en-US" altLang="zh-CN"/>
              <a:t>25</a:t>
            </a:r>
            <a:r>
              <a:rPr lang="zh-CN" altLang="en-US"/>
              <a:t>秒。粗加工使用</a:t>
            </a:r>
            <a:r>
              <a:rPr lang="en-US" altLang="zh-CN"/>
              <a:t>D3</a:t>
            </a:r>
            <a:r>
              <a:rPr lang="zh-CN" altLang="en-US"/>
              <a:t>刀具和型腔铣，以顶面和侧面作为切削区域，主要目的是先去除大部分材料。这里分别展示生成的刀路与切削前后的变化。</a:t>
            </a:r>
          </a:p>
          <a:p>
            <a:r>
              <a:rPr lang="zh-CN" altLang="en-US"/>
              <a:t>来源：原</a:t>
            </a:r>
            <a:r>
              <a:rPr lang="en-US" altLang="zh-CN"/>
              <a:t>UG</a:t>
            </a:r>
            <a:r>
              <a:rPr lang="zh-CN" altLang="en-US"/>
              <a:t>刀路编程</a:t>
            </a:r>
            <a:r>
              <a:rPr lang="en-US" altLang="zh-CN"/>
              <a:t>.pptx</a:t>
            </a:r>
            <a:r>
              <a:rPr lang="zh-CN" altLang="en-US"/>
              <a:t>第</a:t>
            </a:r>
            <a:r>
              <a:rPr lang="en-US" altLang="zh-CN"/>
              <a:t>3</a:t>
            </a:r>
            <a:r>
              <a:rPr lang="zh-CN" altLang="en-US"/>
              <a:t>页。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17A801-530E-FF33-8CEE-567A931A4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7A3B-5BCC-4C3A-AD95-98C9CFBA0B3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5643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9775C-5BC9-24B1-CBEA-93E23A80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4502D7-BE33-9717-944D-A5B8434BE1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880E5D-901B-6597-55FC-F22423809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建议讲述约</a:t>
            </a:r>
            <a:r>
              <a:rPr lang="en-US" altLang="zh-CN"/>
              <a:t>25</a:t>
            </a:r>
            <a:r>
              <a:rPr lang="zh-CN" altLang="en-US"/>
              <a:t>秒。之后继续使用</a:t>
            </a:r>
            <a:r>
              <a:rPr lang="en-US" altLang="zh-CN"/>
              <a:t>D3</a:t>
            </a:r>
            <a:r>
              <a:rPr lang="zh-CN" altLang="en-US"/>
              <a:t>铣刀，通过底壁铣处理倾斜的壁面。按各个面设置刀轴方向，这一页展示不同侧面的刀路，目的是去除粗加工留下的余量。</a:t>
            </a:r>
          </a:p>
          <a:p>
            <a:r>
              <a:rPr lang="zh-CN" altLang="en-US"/>
              <a:t>来源：原</a:t>
            </a:r>
            <a:r>
              <a:rPr lang="en-US" altLang="zh-CN"/>
              <a:t>UG</a:t>
            </a:r>
            <a:r>
              <a:rPr lang="zh-CN" altLang="en-US"/>
              <a:t>刀路编程</a:t>
            </a:r>
            <a:r>
              <a:rPr lang="en-US" altLang="zh-CN"/>
              <a:t>.pptx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页。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46CB4-4DDF-1AA9-87A2-6D957C6F62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7A3B-5BCC-4C3A-AD95-98C9CFBA0B3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235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FEA0-1A07-DDCE-6900-87B0986DE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1A3535-2EDF-11BF-D318-94E809E46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148C87F-8E89-23FE-39BA-4302F714B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建议讲述约</a:t>
            </a:r>
            <a:r>
              <a:rPr lang="en-US" altLang="zh-CN"/>
              <a:t>20</a:t>
            </a:r>
            <a:r>
              <a:rPr lang="zh-CN" altLang="en-US"/>
              <a:t>秒。这一页接着展示底壁铣精加工前后的对比，可以结合上一页刀路观察加工效果，重点观察精加工后的壁面形状。</a:t>
            </a:r>
          </a:p>
          <a:p>
            <a:r>
              <a:rPr lang="zh-CN" altLang="en-US"/>
              <a:t>来源：原</a:t>
            </a:r>
            <a:r>
              <a:rPr lang="en-US" altLang="zh-CN"/>
              <a:t>UG</a:t>
            </a:r>
            <a:r>
              <a:rPr lang="zh-CN" altLang="en-US"/>
              <a:t>刀路编程</a:t>
            </a:r>
            <a:r>
              <a:rPr lang="en-US" altLang="zh-CN"/>
              <a:t>.pptx</a:t>
            </a:r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页。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D0A7E1-8EC8-2E9B-2D2B-0A91398796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7A3B-5BCC-4C3A-AD95-98C9CFBA0B3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661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61902-D6C4-ED47-AA8B-D08D63F2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82FE46-1AF5-54DF-D545-B584AE1A6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2B931D-6B97-5E8E-89E9-EBB94991D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建议讲述约</a:t>
            </a:r>
            <a:r>
              <a:rPr lang="en-US" altLang="zh-CN"/>
              <a:t>25</a:t>
            </a:r>
            <a:r>
              <a:rPr lang="zh-CN" altLang="en-US"/>
              <a:t>秒。最后使用</a:t>
            </a:r>
            <a:r>
              <a:rPr lang="en-US" altLang="zh-CN"/>
              <a:t>D1</a:t>
            </a:r>
            <a:r>
              <a:rPr lang="zh-CN" altLang="en-US"/>
              <a:t>球头铣刀，通过型腔铣处理斜面和圆锥面。这里展示对应刀路以及切削前后的变化。以上是</a:t>
            </a:r>
            <a:r>
              <a:rPr lang="en-US" altLang="zh-CN"/>
              <a:t>UG</a:t>
            </a:r>
            <a:r>
              <a:rPr lang="zh-CN" altLang="en-US"/>
              <a:t>作业，下面介绍本次平台功能开发。</a:t>
            </a:r>
          </a:p>
          <a:p>
            <a:r>
              <a:rPr lang="zh-CN" altLang="en-US"/>
              <a:t>来源：原</a:t>
            </a:r>
            <a:r>
              <a:rPr lang="en-US" altLang="zh-CN"/>
              <a:t>UG</a:t>
            </a:r>
            <a:r>
              <a:rPr lang="zh-CN" altLang="en-US"/>
              <a:t>刀路编程</a:t>
            </a:r>
            <a:r>
              <a:rPr lang="en-US" altLang="zh-CN"/>
              <a:t>.pptx</a:t>
            </a:r>
            <a:r>
              <a:rPr lang="zh-CN" altLang="en-US"/>
              <a:t>第</a:t>
            </a:r>
            <a:r>
              <a:rPr lang="en-US" altLang="zh-CN"/>
              <a:t>6</a:t>
            </a:r>
            <a:r>
              <a:rPr lang="zh-CN" altLang="en-US"/>
              <a:t>页。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A1AC71-E145-637D-E392-CE4E46BE7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7A3B-5BCC-4C3A-AD95-98C9CFBA0B3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325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40秒。原平台主要使用栅格刀路，这次增加了圆形螺旋刀路。选择圆形区域后，可调整刀径、切宽和进给速度，并选择从外向内或从内向外走刀。点击播放，就能观察刀具的移动，也能导出NC程序。螺旋切削过程中不用在每圈之间抬刀。来源：本项目平台截图、功能源码与实际运行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35秒。平台可以一次比较螺旋、往复栅格和单向栅格。在这个例子中，三种预计用时约为125秒、121秒和135秒。螺旋的特点是走刀连贯，但它并不总是最快；这个工况中往复用时略短。表格还可以导出，便于分析。工时为恒定进给下的估算，不能单独代表真实加工效率。来源：演示素材/comparison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35秒。在平台里点击导出Blender，下载并解压后，运行建场景脚本，就可以得到Blender文件。工件、刀具和刀路都会自动生成，打开后可以直接播放，也能调整相机、灯光和材质。无需手动逐个位置给刀具制作动画。源码接口和文件结构留在备注中：POST /api/export/blender；01_create_scene.bat；machining.blend。来源：本项目导出包及spiral/overview.png。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40秒，包含约13秒视频。这里展示生成的刀具运动动画，视频使用10倍速，因此实际预计工时不是13秒。右侧为俯视刀路的渲染图。Blender可以提供更清晰的光照、材质和相机效果。本项目展示的是刀具运动与轨迹，工件形状保持固定，不模拟真实材料去除。来源：spiral/animation_blender_eevee.mp4、top.png、验收数据/media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30秒。本次使用的是Codex桌面应用。我负责提出想要的功能、确认方案和展示方向，并在实际使用后反馈问题。Codex辅助编写代码、执行检查、排查错误，并整理文档与演示材料。代码主要由AI完成，因此汇报时需要清楚说明我与工具各自的作用，并理解这些功能如何使用。来源：本次实际对话；toolpath-lab/docs/ai-development.md。本项目记录的模型为gpt-6.1-so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约40秒。最初我提出希望将平台的刀具运动导入Blender，以获得更好的展示效果。我们先讨论方案，确认范围，再进行开发和检查。完成后，我在实际试用中反馈了启动乱码问题。Codex根据截图复现错误，修改启动脚本，补充环境和端口检查，并用新的解压目录重新验证。这说明AI协作也需要明确需求、实际使用和反馈修正。来源：本次实际对话；toolpath-lab/docs/ai-development.md。真实用户原话包括“加入与Blender软件结合的功能”及“无法正常打开平台运行，请你检查原因后进行优化改错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D5B8B5D-29CF-4978-B251-1633B3753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A38E66C-ECD9-465A-9C58-2A9D173E3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CA19538-E56A-460F-8071-D8A4FD33B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6A93ABE-7F64-4DE9-9CD8-994D26A5D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A222E71-1DF5-4CC7-B388-A6B8BEFBA8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B45A766-DF3A-4E60-A00C-50AD3A93B6B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B6604E0-8747-4F7B-8EE2-883C3186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C332242-09F6-4739-92F0-3BE813A98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5C14FD-B704-E6D5-B4A6-D66CD0853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A5427-AC86-0C0B-C23D-EB62F8908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607992-1556-819A-86C7-2C3CA4A6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B7929-6E6A-416A-8AF3-D6799CE80B8B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CE48F1-8B6B-92FA-A141-5852EE00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C8C5E9-C578-D6AA-39A3-745339418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69430-33C1-43F7-8808-3F1C5A313B0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830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jp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jpg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199AC28B-D722-4891-B939-A1F2A6E7E7A6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6A4DAF-188D-4F15-953E-14632CCFC39E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3" name="page-number">
            <a:extLst>
              <a:ext uri="{FF2B5EF4-FFF2-40B4-BE49-F238E27FC236}">
                <a16:creationId xmlns:a16="http://schemas.microsoft.com/office/drawing/2014/main" id="{230BEFCA-9CED-4160-9742-D04D2CB6FC22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B371BCA-992F-48E3-9DD6-4418F97AE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400" y="591531"/>
            <a:ext cx="3695700" cy="7409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2D67E0A-E0C2-4557-9C6A-6854131A5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1430388"/>
            <a:ext cx="3657600" cy="1014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383AD95-B5DC-42BA-852D-B46D02E8FF96}"/>
              </a:ext>
            </a:extLst>
          </p:cNvPr>
          <p:cNvSpPr>
            <a:spLocks noGrp="1"/>
          </p:cNvSpPr>
          <p:nvPr/>
        </p:nvSpPr>
        <p:spPr>
          <a:xfrm>
            <a:off x="533400" y="2276475"/>
            <a:ext cx="11049000" cy="1362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42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42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 dirty="0" err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  <a:endParaRPr sz="4200" b="1" dirty="0">
              <a:solidFill>
                <a:srgbClr val="064F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02CA62-721B-4033-9C4D-AE44BF829F5A}"/>
              </a:ext>
            </a:extLst>
          </p:cNvPr>
          <p:cNvSpPr>
            <a:spLocks noGrp="1"/>
          </p:cNvSpPr>
          <p:nvPr/>
        </p:nvSpPr>
        <p:spPr>
          <a:xfrm>
            <a:off x="571500" y="3952875"/>
            <a:ext cx="104775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70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70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课程作业汇报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9E74D2-6ABC-4B4C-9523-923417677272}"/>
              </a:ext>
            </a:extLst>
          </p:cNvPr>
          <p:cNvSpPr>
            <a:spLocks noGrp="1"/>
          </p:cNvSpPr>
          <p:nvPr/>
        </p:nvSpPr>
        <p:spPr>
          <a:xfrm>
            <a:off x="571500" y="4648200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 dirty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UG </a:t>
            </a:r>
            <a:r>
              <a:rPr sz="2250" b="0" dirty="0" err="1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刀路编程</a:t>
            </a:r>
            <a:r>
              <a:rPr sz="2250" b="0" dirty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  ·  </a:t>
            </a:r>
            <a:r>
              <a:rPr sz="2250" b="0" dirty="0" err="1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刀路规划功能开发</a:t>
            </a:r>
            <a:endParaRPr sz="2250" b="0" dirty="0">
              <a:solidFill>
                <a:srgbClr val="62778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C7D73D-3599-4DEF-884F-67ED5868A3D2}"/>
              </a:ext>
            </a:extLst>
          </p:cNvPr>
          <p:cNvSpPr>
            <a:spLocks noGrp="1"/>
          </p:cNvSpPr>
          <p:nvPr/>
        </p:nvSpPr>
        <p:spPr>
          <a:xfrm>
            <a:off x="571500" y="5600700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950" b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刘艺政</a:t>
            </a:r>
            <a:r>
              <a:rPr sz="1950" b="0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lang="zh-CN" altLang="en-US" sz="1950" b="0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机卓</a:t>
            </a:r>
            <a:r>
              <a:rPr lang="en-US" altLang="zh-CN" sz="1950" b="0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2301</a:t>
            </a:r>
            <a:r>
              <a:rPr sz="1950" b="0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班  |  </a:t>
            </a:r>
            <a:r>
              <a:rPr lang="en-US" sz="1950" b="0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U202310570</a:t>
            </a:r>
            <a:endParaRPr sz="1950" b="0" dirty="0">
              <a:solidFill>
                <a:srgbClr val="064F7C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04F940BE-A025-4F01-BC54-FA3D575801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2186" y="2276475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08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FD8F7383-825A-4550-A79A-225ED93A18CD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本次完成的作业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6EA537-935A-4EAC-B2A9-EB2114838BC7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两部分内容：加工编程与功能开发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3112C8-351C-43AB-A9E1-9648C0147375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CFACEAA-1AED-4789-9B0D-213008D7E287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ED3B27-DEE3-4699-A9DB-4A2F1CC3879F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5048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UG 刀路编程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3E4F47-EBB0-4769-9497-AD2DF4940CA8}"/>
              </a:ext>
            </a:extLst>
          </p:cNvPr>
          <p:cNvSpPr>
            <a:spLocks noGrp="1"/>
          </p:cNvSpPr>
          <p:nvPr/>
        </p:nvSpPr>
        <p:spPr>
          <a:xfrm>
            <a:off x="571500" y="3019425"/>
            <a:ext cx="5048250" cy="1781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创建包容块</a:t>
            </a:r>
          </a:p>
          <a:p>
            <a: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设置粗加工与精加工刀路</a:t>
            </a:r>
          </a:p>
          <a:p>
            <a: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观察加工前后的变化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CFC824-FED7-42ED-848B-ADFE67A67919}"/>
              </a:ext>
            </a:extLst>
          </p:cNvPr>
          <p:cNvSpPr>
            <a:spLocks noGrp="1"/>
          </p:cNvSpPr>
          <p:nvPr/>
        </p:nvSpPr>
        <p:spPr>
          <a:xfrm>
            <a:off x="6572250" y="2028825"/>
            <a:ext cx="50482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刀路规划功能开发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2136E46-8E6D-4A83-9E83-43BF697B8972}"/>
              </a:ext>
            </a:extLst>
          </p:cNvPr>
          <p:cNvSpPr>
            <a:spLocks noGrp="1"/>
          </p:cNvSpPr>
          <p:nvPr/>
        </p:nvSpPr>
        <p:spPr>
          <a:xfrm>
            <a:off x="6572250" y="3019425"/>
            <a:ext cx="5048250" cy="1781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生成和播放圆形螺旋刀路</a:t>
            </a:r>
          </a:p>
          <a:p>
            <a: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比较不同走刀方式</a:t>
            </a:r>
          </a:p>
          <a:p>
            <a:pPr>
              <a:def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导入 Blender 展示加工动画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5CCF55-36CF-4C59-BA9F-EFC51A8C229A}"/>
              </a:ext>
            </a:extLst>
          </p:cNvPr>
          <p:cNvSpPr>
            <a:spLocks noGrp="1"/>
          </p:cNvSpPr>
          <p:nvPr/>
        </p:nvSpPr>
        <p:spPr>
          <a:xfrm>
            <a:off x="571500" y="5715000"/>
            <a:ext cx="1104900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dirty="0" err="1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先展示</a:t>
            </a:r>
            <a:r>
              <a:rPr sz="2100" b="0" dirty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 UG </a:t>
            </a:r>
            <a:r>
              <a:rPr sz="2100" b="0" dirty="0" err="1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作业，再介绍平台功能和</a:t>
            </a:r>
            <a:r>
              <a:rPr sz="2100" b="0" dirty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 AI </a:t>
            </a:r>
            <a:r>
              <a:rPr sz="2100" b="0" dirty="0" err="1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协作过程</a:t>
            </a:r>
            <a:endParaRPr sz="2100" b="0" dirty="0">
              <a:solidFill>
                <a:srgbClr val="627782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856CB1E-F448-4DC8-B865-6B970F3C7B8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5F4FBF0-C3BD-4C9B-989E-DD9F5339EDDB}"/>
              </a:ext>
            </a:extLst>
          </p:cNvPr>
          <p:cNvCxnSpPr/>
          <p:nvPr/>
        </p:nvCxnSpPr>
        <p:spPr>
          <a:xfrm>
            <a:off x="0" y="904875"/>
            <a:ext cx="12192000" cy="0"/>
          </a:xfrm>
          <a:prstGeom prst="line">
            <a:avLst/>
          </a:prstGeom>
          <a:ln w="19050">
            <a:solidFill>
              <a:srgbClr val="064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FF29EF8-3FD7-4DA3-BBF4-1714F5E42CFA}"/>
              </a:ext>
            </a:extLst>
          </p:cNvPr>
          <p:cNvSpPr/>
          <p:nvPr/>
        </p:nvSpPr>
        <p:spPr>
          <a:xfrm>
            <a:off x="342900" y="1759527"/>
            <a:ext cx="4914900" cy="3422073"/>
          </a:xfrm>
          <a:prstGeom prst="roundRect">
            <a:avLst/>
          </a:prstGeom>
          <a:noFill/>
          <a:ln>
            <a:solidFill>
              <a:srgbClr val="064F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BB9DE86-B5AA-4838-93B3-7B6AA5245F2F}"/>
              </a:ext>
            </a:extLst>
          </p:cNvPr>
          <p:cNvSpPr/>
          <p:nvPr/>
        </p:nvSpPr>
        <p:spPr>
          <a:xfrm>
            <a:off x="6218959" y="1759526"/>
            <a:ext cx="4914900" cy="3422073"/>
          </a:xfrm>
          <a:prstGeom prst="roundRect">
            <a:avLst/>
          </a:prstGeom>
          <a:noFill/>
          <a:ln>
            <a:solidFill>
              <a:srgbClr val="064F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64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0CB0ED0E-F59E-BD2C-D5C5-9E657419422D}"/>
              </a:ext>
            </a:extLst>
          </p:cNvPr>
          <p:cNvSpPr txBox="1"/>
          <p:nvPr/>
        </p:nvSpPr>
        <p:spPr>
          <a:xfrm>
            <a:off x="351564" y="274566"/>
            <a:ext cx="10858500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创建包容块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5685F95-257F-48D2-A4F3-C7CCBFB62765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397D8ED3-CFA7-6A27-BF45-38D4213A67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136" y="242398"/>
            <a:ext cx="1051607" cy="540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A98157E-064B-652D-46B6-51A8625E5F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640" y="1988130"/>
            <a:ext cx="7994348" cy="432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38EEF84-3533-0ACC-23A3-3C257C856AC3}"/>
              </a:ext>
            </a:extLst>
          </p:cNvPr>
          <p:cNvSpPr txBox="1"/>
          <p:nvPr/>
        </p:nvSpPr>
        <p:spPr>
          <a:xfrm>
            <a:off x="351564" y="1178647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使用创建几何体命令创建包容块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421301-285D-414A-A317-BF3EDF289938}"/>
              </a:ext>
            </a:extLst>
          </p:cNvPr>
          <p:cNvSpPr txBox="1"/>
          <p:nvPr/>
        </p:nvSpPr>
        <p:spPr>
          <a:xfrm>
            <a:off x="514350" y="6486525"/>
            <a:ext cx="102870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现代数控编程与机器人加工技术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D294827-6DA4-45C4-9A7E-4F21005FC9B5}"/>
              </a:ext>
            </a:extLst>
          </p:cNvPr>
          <p:cNvSpPr txBox="1"/>
          <p:nvPr/>
        </p:nvSpPr>
        <p:spPr>
          <a:xfrm>
            <a:off x="11258550" y="6486525"/>
            <a:ext cx="523875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</a:t>
            </a:r>
            <a:endParaRPr lang="zh-CN" altLang="en-US" sz="1275">
              <a:solidFill>
                <a:srgbClr val="62778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8326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82D55-2869-F0C9-86C1-1EB55E3C5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539932CA-079E-7CDE-E08F-1F0565504F0F}"/>
              </a:ext>
            </a:extLst>
          </p:cNvPr>
          <p:cNvSpPr txBox="1"/>
          <p:nvPr/>
        </p:nvSpPr>
        <p:spPr>
          <a:xfrm>
            <a:off x="351564" y="274566"/>
            <a:ext cx="10858500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粗加工</a:t>
            </a:r>
            <a:r>
              <a:rPr kumimoji="1" lang="en-US" altLang="zh-CN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型腔铣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C7757EC-210D-4D47-5E07-09BA0603622C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E2CDBC04-3E40-3D0A-0161-F0D3E3168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136" y="242398"/>
            <a:ext cx="1051607" cy="5400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D1F7B5C-69C3-566A-C8D7-FE3285B77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64" y="2065258"/>
            <a:ext cx="7259017" cy="360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6BED5F0-FF8C-E8AF-A99D-E71FB8190B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590" y="3881868"/>
            <a:ext cx="3137301" cy="216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44FB73F-7C9B-75C7-A40F-CB51D23072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1544" y="1902043"/>
            <a:ext cx="3271395" cy="216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1C44936-7B95-8F6B-016E-81A42F47DDDD}"/>
              </a:ext>
            </a:extLst>
          </p:cNvPr>
          <p:cNvSpPr txBox="1"/>
          <p:nvPr/>
        </p:nvSpPr>
        <p:spPr>
          <a:xfrm>
            <a:off x="351564" y="1075988"/>
            <a:ext cx="112133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首先使用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D3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刀具进行加工；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使用型腔铣进行粗加工，以所有顶面和侧面为指定切削区域，生成刀路，其目的是大量去除材料。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3262F2-C4AA-159B-CF8E-31085EDD02FC}"/>
              </a:ext>
            </a:extLst>
          </p:cNvPr>
          <p:cNvSpPr txBox="1"/>
          <p:nvPr/>
        </p:nvSpPr>
        <p:spPr>
          <a:xfrm>
            <a:off x="3290819" y="621410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刀路示意图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C36DFBB-AACA-F3D1-084C-0BB57BDB1D82}"/>
              </a:ext>
            </a:extLst>
          </p:cNvPr>
          <p:cNvSpPr txBox="1"/>
          <p:nvPr/>
        </p:nvSpPr>
        <p:spPr>
          <a:xfrm>
            <a:off x="9096761" y="621410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切削前后对比图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C8D696-DFA3-45C5-A10A-1727196A29BA}"/>
              </a:ext>
            </a:extLst>
          </p:cNvPr>
          <p:cNvSpPr txBox="1"/>
          <p:nvPr/>
        </p:nvSpPr>
        <p:spPr>
          <a:xfrm>
            <a:off x="514350" y="6486525"/>
            <a:ext cx="102870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现代数控编程与机器人加工技术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87D0FD-E691-4279-8163-04AD532F929D}"/>
              </a:ext>
            </a:extLst>
          </p:cNvPr>
          <p:cNvSpPr txBox="1"/>
          <p:nvPr/>
        </p:nvSpPr>
        <p:spPr>
          <a:xfrm>
            <a:off x="11258550" y="6486525"/>
            <a:ext cx="523875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05</a:t>
            </a:r>
            <a:endParaRPr lang="zh-CN" altLang="en-US" sz="1275">
              <a:solidFill>
                <a:srgbClr val="62778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9449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9835E-FF98-6E3A-B45F-83AEA0F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EE109D95-FF73-89D7-063E-D734243BF26A}"/>
              </a:ext>
            </a:extLst>
          </p:cNvPr>
          <p:cNvSpPr txBox="1"/>
          <p:nvPr/>
        </p:nvSpPr>
        <p:spPr>
          <a:xfrm>
            <a:off x="351564" y="274566"/>
            <a:ext cx="10858500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精加工</a:t>
            </a:r>
            <a:r>
              <a:rPr kumimoji="1" lang="en-US" altLang="zh-CN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底壁铣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2F4DE9F-7108-F492-6635-FBD42E18E4D8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F787991E-4A79-D50F-957E-2373FE1D9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136" y="242398"/>
            <a:ext cx="1051607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5C411FD-EE18-0FC0-B642-0C57CB785B84}"/>
              </a:ext>
            </a:extLst>
          </p:cNvPr>
          <p:cNvSpPr txBox="1"/>
          <p:nvPr/>
        </p:nvSpPr>
        <p:spPr>
          <a:xfrm>
            <a:off x="222143" y="1024254"/>
            <a:ext cx="11718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继续使用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D3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铣刀进行加工；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使用底壁铣对各个倾斜的壁进行精加工，以各个侧面为指定切削区域，设置刀轴垂直于所要加工的面，生成刀路，其目的是去除粗加工的余量。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C46F5F-B609-EB75-51E7-4EF040371F96}"/>
              </a:ext>
            </a:extLst>
          </p:cNvPr>
          <p:cNvSpPr txBox="1"/>
          <p:nvPr/>
        </p:nvSpPr>
        <p:spPr>
          <a:xfrm>
            <a:off x="5490706" y="6396658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刀路示意图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119331C-D19C-0A27-E785-8C8A5BE26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7" y="2304984"/>
            <a:ext cx="2947780" cy="180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40830B-A1E9-CCF9-C84D-C1412B825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9655" y="2304984"/>
            <a:ext cx="2784965" cy="180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3EFF648-ECEB-18AC-CF90-A838B7727C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3238" y="2304984"/>
            <a:ext cx="2779549" cy="180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95206F4-6CF7-A48A-2EFF-0503FADF39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1405" y="2304984"/>
            <a:ext cx="2777420" cy="180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9325B14-9660-38BB-B677-83A3CBEABB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400" y="4520098"/>
            <a:ext cx="2989233" cy="1800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C1D33CF-9AE4-3943-752E-D21C37CB49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17006" y="4520098"/>
            <a:ext cx="3102251" cy="18000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A42BE6C-CE1B-9B40-7B49-75BDC59C89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9384" y="4520098"/>
            <a:ext cx="3147798" cy="180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62BED7A-0655-49FD-96B8-4625F8802D3C}"/>
              </a:ext>
            </a:extLst>
          </p:cNvPr>
          <p:cNvSpPr txBox="1"/>
          <p:nvPr/>
        </p:nvSpPr>
        <p:spPr>
          <a:xfrm>
            <a:off x="514350" y="6486525"/>
            <a:ext cx="102870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现代数控编程与机器人加工技术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CA21CEB-ECD1-4A00-A3B1-2B02A6E1B6F9}"/>
              </a:ext>
            </a:extLst>
          </p:cNvPr>
          <p:cNvSpPr txBox="1"/>
          <p:nvPr/>
        </p:nvSpPr>
        <p:spPr>
          <a:xfrm>
            <a:off x="11258550" y="6486525"/>
            <a:ext cx="523875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endParaRPr lang="zh-CN" altLang="en-US" sz="1275">
              <a:solidFill>
                <a:srgbClr val="62778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1297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1CE9-7D79-6CF6-B882-94303254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2E55F83D-9F79-34B6-36B7-2900155C948E}"/>
              </a:ext>
            </a:extLst>
          </p:cNvPr>
          <p:cNvSpPr txBox="1"/>
          <p:nvPr/>
        </p:nvSpPr>
        <p:spPr>
          <a:xfrm>
            <a:off x="351564" y="274566"/>
            <a:ext cx="10858500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精加工</a:t>
            </a:r>
            <a:r>
              <a:rPr kumimoji="1" lang="en-US" altLang="zh-CN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底壁铣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D6F5053-AE73-FF9C-2697-2AFFE2E2EF85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18DF69A4-D1E2-AC8F-C306-92A5E302E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136" y="242398"/>
            <a:ext cx="1051607" cy="54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69CC909-A017-D83B-F35B-62B741E06B60}"/>
              </a:ext>
            </a:extLst>
          </p:cNvPr>
          <p:cNvSpPr txBox="1"/>
          <p:nvPr/>
        </p:nvSpPr>
        <p:spPr>
          <a:xfrm>
            <a:off x="5521631" y="5958059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切削前后对比图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7A33DA6-CA3F-9E6E-89AD-1801A7F9C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776" y="2198988"/>
            <a:ext cx="5532086" cy="360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5FB5C03-1AB4-6AEC-1765-E823B82B0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2110" y="2198988"/>
            <a:ext cx="5646648" cy="3600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74C38D2-1C84-1FAA-5A7A-E87D581CB223}"/>
              </a:ext>
            </a:extLst>
          </p:cNvPr>
          <p:cNvSpPr txBox="1"/>
          <p:nvPr/>
        </p:nvSpPr>
        <p:spPr>
          <a:xfrm>
            <a:off x="222143" y="1024254"/>
            <a:ext cx="11718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继续使用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D3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铣刀进行加工；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使用底壁铣对各个倾斜的壁进行精加工，以各个侧面为指定切削区域，设置刀轴垂直于所要加工的面，生成刀路，其目的是去除粗加工的余量。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D2B586-9B37-4EE3-8F8A-F260A9CFD0F0}"/>
              </a:ext>
            </a:extLst>
          </p:cNvPr>
          <p:cNvSpPr txBox="1"/>
          <p:nvPr/>
        </p:nvSpPr>
        <p:spPr>
          <a:xfrm>
            <a:off x="514350" y="6486525"/>
            <a:ext cx="102870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现代数控编程与机器人加工技术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E34793-0886-480E-9763-E0C0E632B975}"/>
              </a:ext>
            </a:extLst>
          </p:cNvPr>
          <p:cNvSpPr txBox="1"/>
          <p:nvPr/>
        </p:nvSpPr>
        <p:spPr>
          <a:xfrm>
            <a:off x="11258550" y="6486525"/>
            <a:ext cx="523875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07</a:t>
            </a:r>
            <a:endParaRPr lang="zh-CN" altLang="en-US" sz="1275">
              <a:solidFill>
                <a:srgbClr val="62778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65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37DC-9EDE-7036-175B-302DA559E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>
            <a:extLst>
              <a:ext uri="{FF2B5EF4-FFF2-40B4-BE49-F238E27FC236}">
                <a16:creationId xmlns:a16="http://schemas.microsoft.com/office/drawing/2014/main" id="{937252F0-AC4E-D7FE-66B9-651C4D726192}"/>
              </a:ext>
            </a:extLst>
          </p:cNvPr>
          <p:cNvSpPr txBox="1"/>
          <p:nvPr/>
        </p:nvSpPr>
        <p:spPr>
          <a:xfrm>
            <a:off x="351564" y="274566"/>
            <a:ext cx="10858500" cy="5078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l">
              <a:lnSpc>
                <a:spcPct val="130000"/>
              </a:lnSpc>
            </a:pP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精加工</a:t>
            </a:r>
            <a:r>
              <a:rPr kumimoji="1" lang="en-US" altLang="zh-CN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——</a:t>
            </a:r>
            <a:r>
              <a:rPr kumimoji="1" lang="zh-CN" altLang="en-US" sz="3000" b="1" dirty="0">
                <a:ln w="12700">
                  <a:noFill/>
                </a:ln>
                <a:solidFill>
                  <a:srgbClr val="004B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型腔铣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BF201E4-3CFE-1C25-FB84-4DFBD7C1B99C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3B4D51AB-9EE1-C35D-3FE0-35E287CF3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7136" y="242398"/>
            <a:ext cx="1051607" cy="54000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0669C97-D70E-B20D-4F6B-CCE359672F53}"/>
              </a:ext>
            </a:extLst>
          </p:cNvPr>
          <p:cNvSpPr txBox="1"/>
          <p:nvPr/>
        </p:nvSpPr>
        <p:spPr>
          <a:xfrm>
            <a:off x="351564" y="1075988"/>
            <a:ext cx="9674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</a:t>
            </a: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D1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球头铣刀进行加工；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使用型腔铣对斜面和圆锥面进行精加工，以斜面和圆锥面为指定切削区域，生成刀路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FF563A-9EDA-08F7-106C-75AE5C1F9E9D}"/>
              </a:ext>
            </a:extLst>
          </p:cNvPr>
          <p:cNvSpPr txBox="1"/>
          <p:nvPr/>
        </p:nvSpPr>
        <p:spPr>
          <a:xfrm>
            <a:off x="3290819" y="6183324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刀路示意图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2BC7BD9-AD2F-A9AA-5A83-B69AB150AE89}"/>
              </a:ext>
            </a:extLst>
          </p:cNvPr>
          <p:cNvSpPr txBox="1"/>
          <p:nvPr/>
        </p:nvSpPr>
        <p:spPr>
          <a:xfrm>
            <a:off x="8534670" y="618215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切削前后对比图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5870C3-AD08-76DE-6256-802C12E16E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572" y="2198988"/>
            <a:ext cx="5618344" cy="36000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5B51B44-FECD-370D-C15E-A42A5F2CC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6058" y="1838988"/>
            <a:ext cx="3338182" cy="21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813026D-BC90-438B-C617-3F6D3B409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7500" y="3968210"/>
            <a:ext cx="3336740" cy="2160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10F1AC1-1E92-4213-A913-6FF659F7E813}"/>
              </a:ext>
            </a:extLst>
          </p:cNvPr>
          <p:cNvSpPr txBox="1"/>
          <p:nvPr/>
        </p:nvSpPr>
        <p:spPr>
          <a:xfrm>
            <a:off x="514350" y="6486525"/>
            <a:ext cx="10287000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现代数控编程与机器人加工技术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832195F-7C61-4006-9DFB-005BA2899E98}"/>
              </a:ext>
            </a:extLst>
          </p:cNvPr>
          <p:cNvSpPr txBox="1"/>
          <p:nvPr/>
        </p:nvSpPr>
        <p:spPr>
          <a:xfrm>
            <a:off x="11258550" y="6486525"/>
            <a:ext cx="523875" cy="1962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75">
                <a:solidFill>
                  <a:srgbClr val="62778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08</a:t>
            </a:r>
            <a:endParaRPr lang="zh-CN" altLang="en-US" sz="1275">
              <a:solidFill>
                <a:srgbClr val="62778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47890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9157F1E6-3FE3-4C42-ADAE-C1716C978D88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圆形螺旋刀路功能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39B830-DDAA-4ED4-987A-F9386627DD70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在平台中生成刀路，并查看刀具如何移动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27CB6CA-A4EE-47D6-8663-23DF8BE14005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37B3CAFA-4C05-4FF5-B6B3-4C9E236E6634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60A8695-7F3D-4C82-8BA8-336FAECFAD91}"/>
              </a:ext>
            </a:extLst>
          </p:cNvPr>
          <p:cNvSpPr>
            <a:spLocks noGrp="1"/>
          </p:cNvSpPr>
          <p:nvPr/>
        </p:nvSpPr>
        <p:spPr>
          <a:xfrm>
            <a:off x="8486775" y="2085975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生成刀路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FA6D63-BEF6-45CA-921C-1B884925419F}"/>
              </a:ext>
            </a:extLst>
          </p:cNvPr>
          <p:cNvSpPr>
            <a:spLocks noGrp="1"/>
          </p:cNvSpPr>
          <p:nvPr/>
        </p:nvSpPr>
        <p:spPr>
          <a:xfrm>
            <a:off x="8486775" y="2657475"/>
            <a:ext cx="3143250" cy="885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选择圆形区域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一键生成螺旋刀路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CD7BB7-AF26-4C58-8A7E-41B7F1F3F2A6}"/>
              </a:ext>
            </a:extLst>
          </p:cNvPr>
          <p:cNvSpPr>
            <a:spLocks noGrp="1"/>
          </p:cNvSpPr>
          <p:nvPr/>
        </p:nvSpPr>
        <p:spPr>
          <a:xfrm>
            <a:off x="8486775" y="3829050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调整与播放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596502-0E9F-4C00-916F-B458F082114D}"/>
              </a:ext>
            </a:extLst>
          </p:cNvPr>
          <p:cNvSpPr>
            <a:spLocks noGrp="1"/>
          </p:cNvSpPr>
          <p:nvPr/>
        </p:nvSpPr>
        <p:spPr>
          <a:xfrm>
            <a:off x="8486775" y="4419600"/>
            <a:ext cx="31432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切换走刀方向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调整切宽和速度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播放运动、导出</a:t>
            </a:r>
            <a:r>
              <a:rPr sz="2025" b="0" dirty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 NC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C7BE8AB-FB4F-4D77-86AA-0F8CEE2B032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3FC0492-85B3-41F7-93BA-AF8153093FB0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E0425EE6-C263-47A9-B6AD-4BD30C035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879709"/>
            <a:ext cx="7640417" cy="392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328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F4DD6B5D-5A89-4614-9F97-D1E279EF93FD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不同走刀方式的对比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B0A2F5D-31E0-460B-BAB8-F22469F0C7F4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相同工件和参数下，比较三种刀路的预计用时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B7E651C-75B9-4ACE-BF8A-329CEA8F6191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669D1E70-DDD0-4E51-AF56-FEE156844DBA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5" name="Chart">
            <a:extLst>
              <a:ext uri="{FF2B5EF4-FFF2-40B4-BE49-F238E27FC236}">
                <a16:creationId xmlns:a16="http://schemas.microsoft.com/office/drawing/2014/main" id="{96627745-DAD8-4E88-B931-BA93D5D0F545}"/>
              </a:ext>
            </a:extLst>
          </p:cNvPr>
          <p:cNvGraphicFramePr/>
          <p:nvPr/>
        </p:nvGraphicFramePr>
        <p:xfrm>
          <a:off x="514350" y="2028825"/>
          <a:ext cx="7381875" cy="3467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5BC2CD37-676B-4B27-BEB3-14FB79DB2194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3238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72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72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预计用时 / 秒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F179BD-86BE-47A1-917E-88C13168521A}"/>
              </a:ext>
            </a:extLst>
          </p:cNvPr>
          <p:cNvSpPr>
            <a:spLocks noGrp="1"/>
          </p:cNvSpPr>
          <p:nvPr/>
        </p:nvSpPr>
        <p:spPr>
          <a:xfrm>
            <a:off x="8515350" y="2152650"/>
            <a:ext cx="304800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本次对比条件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ABCFB8-A34B-4462-AC14-CB693CC39547}"/>
              </a:ext>
            </a:extLst>
          </p:cNvPr>
          <p:cNvSpPr>
            <a:spLocks noGrp="1"/>
          </p:cNvSpPr>
          <p:nvPr/>
        </p:nvSpPr>
        <p:spPr>
          <a:xfrm>
            <a:off x="8515350" y="2781300"/>
            <a:ext cx="3143250" cy="2047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9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defRPr sz="19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圆形区域：直径</a:t>
            </a:r>
            <a:r>
              <a:rPr sz="1950" b="0" dirty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 80 mm</a:t>
            </a:r>
          </a:p>
          <a:p>
            <a:pPr>
              <a:lnSpc>
                <a:spcPct val="150000"/>
              </a:lnSpc>
              <a:defRPr sz="19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刀具：直径</a:t>
            </a:r>
            <a:r>
              <a:rPr sz="1950" b="0" dirty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 6 mm</a:t>
            </a:r>
          </a:p>
          <a:p>
            <a:pPr>
              <a:lnSpc>
                <a:spcPct val="150000"/>
              </a:lnSpc>
              <a:defRPr sz="19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切宽：3 mm</a:t>
            </a:r>
          </a:p>
          <a:p>
            <a:pPr>
              <a:lnSpc>
                <a:spcPct val="150000"/>
              </a:lnSpc>
              <a:defRPr sz="195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进给：800 mm/min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0E0956-1ACD-43AA-8CBE-D0AEB9E19239}"/>
              </a:ext>
            </a:extLst>
          </p:cNvPr>
          <p:cNvSpPr>
            <a:spLocks noGrp="1"/>
          </p:cNvSpPr>
          <p:nvPr/>
        </p:nvSpPr>
        <p:spPr>
          <a:xfrm>
            <a:off x="571500" y="5781675"/>
            <a:ext cx="11144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2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螺旋走刀更连贯；本例中往复用时略短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157E9F0-3C9B-4396-92F9-7BB8D2D14431}"/>
              </a:ext>
            </a:extLst>
          </p:cNvPr>
          <p:cNvSpPr>
            <a:spLocks noGrp="1"/>
          </p:cNvSpPr>
          <p:nvPr/>
        </p:nvSpPr>
        <p:spPr>
          <a:xfrm>
            <a:off x="571500" y="61817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42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用时为估算值，不能单独判断真实加工效率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72DA88E-46EE-492B-8E30-12ABD88621C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5F29A00-5221-4B31-82E6-DDF1CB72E30E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6140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14ABA20-F99A-4E7B-8507-EDFFB79050E8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将刀路导入 Blender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DF6132-DE5B-4CDE-B29C-9AB2F3446DD9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让平台里的刀具运动，成为可以编辑和渲染的场景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3B9B9A-7823-4199-8F77-DA93B35F892B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A15D4125-D633-46AB-8D20-1370FE4F9D2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ED2F92-8975-4B56-AFC0-AEC6410365BB}"/>
              </a:ext>
            </a:extLst>
          </p:cNvPr>
          <p:cNvSpPr>
            <a:spLocks noGrp="1"/>
          </p:cNvSpPr>
          <p:nvPr/>
        </p:nvSpPr>
        <p:spPr>
          <a:xfrm>
            <a:off x="571500" y="177165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生成刀路   →   下载并解压   →   自动建场景   →   播放与渲染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3DE9786-FB0A-4F52-A901-085FD9675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350" y="2478286"/>
            <a:ext cx="7105650" cy="3996928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1ECB071-8697-4D31-A8EC-9D648318D1E5}"/>
              </a:ext>
            </a:extLst>
          </p:cNvPr>
          <p:cNvSpPr>
            <a:spLocks noGrp="1"/>
          </p:cNvSpPr>
          <p:nvPr/>
        </p:nvSpPr>
        <p:spPr>
          <a:xfrm>
            <a:off x="8115300" y="2895600"/>
            <a:ext cx="3286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自动生成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86CBBAC-BE78-490F-B9DA-0CC4C12B22FE}"/>
              </a:ext>
            </a:extLst>
          </p:cNvPr>
          <p:cNvSpPr>
            <a:spLocks noGrp="1"/>
          </p:cNvSpPr>
          <p:nvPr/>
        </p:nvSpPr>
        <p:spPr>
          <a:xfrm>
            <a:off x="8115300" y="3514725"/>
            <a:ext cx="33337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工件、刀具与刀路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7B334A6-65F8-4C7A-9944-86385A1B9B6F}"/>
              </a:ext>
            </a:extLst>
          </p:cNvPr>
          <p:cNvSpPr>
            <a:spLocks noGrp="1"/>
          </p:cNvSpPr>
          <p:nvPr/>
        </p:nvSpPr>
        <p:spPr>
          <a:xfrm>
            <a:off x="8115300" y="4448175"/>
            <a:ext cx="3286125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继续编辑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96E57D-B575-46DB-BB3A-8256AB6FCE37}"/>
              </a:ext>
            </a:extLst>
          </p:cNvPr>
          <p:cNvSpPr>
            <a:spLocks noGrp="1"/>
          </p:cNvSpPr>
          <p:nvPr/>
        </p:nvSpPr>
        <p:spPr>
          <a:xfrm>
            <a:off x="8115300" y="5048250"/>
            <a:ext cx="3381375" cy="933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调整相机、灯光和材质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选择视角，播放或渲染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054F4F0-23D1-441B-B7B4-F9529BE121A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7006120-AE45-4F8D-8918-D3DBD52921D0}"/>
              </a:ext>
            </a:extLst>
          </p:cNvPr>
          <p:cNvCxnSpPr/>
          <p:nvPr/>
        </p:nvCxnSpPr>
        <p:spPr>
          <a:xfrm>
            <a:off x="0" y="904875"/>
            <a:ext cx="12192000" cy="0"/>
          </a:xfrm>
          <a:prstGeom prst="line">
            <a:avLst/>
          </a:prstGeom>
          <a:ln w="19050">
            <a:solidFill>
              <a:srgbClr val="064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1DAF89B4-3F3D-41B3-9CCF-CFDB5AEA9CA7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549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6B41F32-8551-4592-B271-FA056C089C94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动画与渲染成果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FEEBD6-0EFF-4558-B2F5-F0D6B4BA7F0A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1080p 动画 · 30 fps · 10 倍速演示（约 13 秒）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D48AFE-ECC8-460C-963A-433DC9FE6FC9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51A294FE-DC7B-4B9E-8B1F-3404BF58475C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F2C8796-D0EC-4D91-BFE5-B5A2F14CF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20100" y="1918097"/>
            <a:ext cx="3238500" cy="182165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A7E41FA-7439-486C-9146-0516EC6BE4F2}"/>
              </a:ext>
            </a:extLst>
          </p:cNvPr>
          <p:cNvSpPr>
            <a:spLocks noGrp="1"/>
          </p:cNvSpPr>
          <p:nvPr/>
        </p:nvSpPr>
        <p:spPr>
          <a:xfrm>
            <a:off x="8467725" y="3886200"/>
            <a:ext cx="31432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俯视刀路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4AA2B2-C074-4B55-9670-E82C6EEE56DD}"/>
              </a:ext>
            </a:extLst>
          </p:cNvPr>
          <p:cNvSpPr>
            <a:spLocks noGrp="1"/>
          </p:cNvSpPr>
          <p:nvPr/>
        </p:nvSpPr>
        <p:spPr>
          <a:xfrm>
            <a:off x="8467725" y="4514850"/>
            <a:ext cx="3143250" cy="13620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可切换观察视角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可编辑场景与材质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02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已输出视频和图片</a:t>
            </a:r>
            <a:endParaRPr sz="2025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AAFDC78-1860-4604-9204-AFC5C68F47F3}"/>
              </a:ext>
            </a:extLst>
          </p:cNvPr>
          <p:cNvSpPr>
            <a:spLocks noGrp="1"/>
          </p:cNvSpPr>
          <p:nvPr/>
        </p:nvSpPr>
        <p:spPr>
          <a:xfrm>
            <a:off x="571500" y="6153150"/>
            <a:ext cx="11049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5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刀具运动与轨迹展示；工件形状保持固定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31A13A7-B1FC-4E19-8D9C-E0FCC479147C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3211498-846F-4CCB-BFDE-99FC634F071C}"/>
              </a:ext>
            </a:extLst>
          </p:cNvPr>
          <p:cNvCxnSpPr/>
          <p:nvPr/>
        </p:nvCxnSpPr>
        <p:spPr>
          <a:xfrm>
            <a:off x="0" y="904875"/>
            <a:ext cx="12192000" cy="0"/>
          </a:xfrm>
          <a:prstGeom prst="line">
            <a:avLst/>
          </a:prstGeom>
          <a:ln w="19050">
            <a:solidFill>
              <a:srgbClr val="064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Embedded_ToolpathLab_Demo_10x">
            <a:hlinkClick r:id="" action="ppaction://media"/>
            <a:extLst>
              <a:ext uri="{FF2B5EF4-FFF2-40B4-BE49-F238E27FC236}">
                <a16:creationId xmlns:a16="http://schemas.microsoft.com/office/drawing/2014/main" id="{DA62FC3B-0092-4EFB-ABA7-1279535708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14350" y="1791892"/>
            <a:ext cx="7581900" cy="4264819"/>
          </a:xfrm>
          <a:prstGeom prst="rect">
            <a:avLst/>
          </a:prstGeom>
        </p:spPr>
      </p:pic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DB99E11-3141-4967-8250-4FE77D5639DF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51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67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7B080B66-F7E1-41B9-8379-D52187B49A52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使用的 AI 编程工具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855339-CB82-48B3-A290-9A0D4B1FE830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Codex：用自然语言沟通，辅助编写和修改程序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0BD143-54AA-4915-A381-63B3D15B8AB8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DDD690CE-98F9-45FF-AFE9-91E06974F936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1587D12-929C-4C8F-B6CB-B89B895C5C7D}"/>
              </a:ext>
            </a:extLst>
          </p:cNvPr>
          <p:cNvSpPr>
            <a:spLocks noGrp="1"/>
          </p:cNvSpPr>
          <p:nvPr/>
        </p:nvSpPr>
        <p:spPr>
          <a:xfrm>
            <a:off x="571500" y="214312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我负责</a:t>
            </a:r>
            <a:endParaRPr sz="2850" b="1" dirty="0">
              <a:solidFill>
                <a:srgbClr val="064F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E2C3D1-2262-454A-B535-925642D67488}"/>
              </a:ext>
            </a:extLst>
          </p:cNvPr>
          <p:cNvSpPr>
            <a:spLocks noGrp="1"/>
          </p:cNvSpPr>
          <p:nvPr/>
        </p:nvSpPr>
        <p:spPr>
          <a:xfrm>
            <a:off x="571500" y="2981325"/>
            <a:ext cx="5286375" cy="1933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提出功能需求</a:t>
            </a:r>
            <a:endParaRPr sz="2400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确认开发方案</a:t>
            </a:r>
            <a:endParaRPr sz="2400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试用并反馈问题</a:t>
            </a:r>
            <a:endParaRPr sz="2400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6ED755E-F1E6-46EA-8AEC-21BB2C43E43A}"/>
              </a:ext>
            </a:extLst>
          </p:cNvPr>
          <p:cNvSpPr>
            <a:spLocks noGrp="1"/>
          </p:cNvSpPr>
          <p:nvPr/>
        </p:nvSpPr>
        <p:spPr>
          <a:xfrm>
            <a:off x="6572250" y="2143125"/>
            <a:ext cx="5238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85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Codex </a:t>
            </a:r>
            <a:r>
              <a:rPr sz="2850" b="1" dirty="0" err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协助</a:t>
            </a:r>
            <a:endParaRPr sz="2850" b="1" dirty="0">
              <a:solidFill>
                <a:srgbClr val="064F7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D767A0-B286-460A-A07E-F83395940303}"/>
              </a:ext>
            </a:extLst>
          </p:cNvPr>
          <p:cNvSpPr>
            <a:spLocks noGrp="1"/>
          </p:cNvSpPr>
          <p:nvPr/>
        </p:nvSpPr>
        <p:spPr>
          <a:xfrm>
            <a:off x="6572250" y="2981325"/>
            <a:ext cx="5238750" cy="1933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50000"/>
              </a:lnSpc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编写和修改代码</a:t>
            </a:r>
            <a:endParaRPr sz="2400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执行检查、排查错误</a:t>
            </a:r>
            <a:endParaRPr sz="2400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50000"/>
              </a:lnSpc>
              <a:defRPr sz="2400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 dirty="0" err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整理文档与演示材料</a:t>
            </a:r>
            <a:endParaRPr sz="2400" b="0" dirty="0">
              <a:solidFill>
                <a:srgbClr val="20374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346883-29DE-46E6-89EE-FE878FF46819}"/>
              </a:ext>
            </a:extLst>
          </p:cNvPr>
          <p:cNvSpPr>
            <a:spLocks noGrp="1"/>
          </p:cNvSpPr>
          <p:nvPr/>
        </p:nvSpPr>
        <p:spPr>
          <a:xfrm>
            <a:off x="571500" y="5705475"/>
            <a:ext cx="111442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0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工具：Codex 桌面应用  |  本项目模型记录：gpt-6.1-sol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C884997-2412-4E8F-9FCA-FA90CB9EC66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26624F4-748F-430F-BB1C-DB7191CA66F3}"/>
              </a:ext>
            </a:extLst>
          </p:cNvPr>
          <p:cNvCxnSpPr/>
          <p:nvPr/>
        </p:nvCxnSpPr>
        <p:spPr>
          <a:xfrm>
            <a:off x="0" y="904875"/>
            <a:ext cx="12192000" cy="0"/>
          </a:xfrm>
          <a:prstGeom prst="line">
            <a:avLst/>
          </a:prstGeom>
          <a:ln w="19050">
            <a:solidFill>
              <a:srgbClr val="064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CD27BCE-736F-438B-98BA-95D90EC3E9B3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09830D6-2F6A-459C-96B8-36B42524C9FF}"/>
              </a:ext>
            </a:extLst>
          </p:cNvPr>
          <p:cNvSpPr/>
          <p:nvPr/>
        </p:nvSpPr>
        <p:spPr>
          <a:xfrm>
            <a:off x="342900" y="1759527"/>
            <a:ext cx="4914900" cy="3422073"/>
          </a:xfrm>
          <a:prstGeom prst="roundRect">
            <a:avLst/>
          </a:prstGeom>
          <a:noFill/>
          <a:ln>
            <a:solidFill>
              <a:srgbClr val="064F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5985E94-ED3D-48AD-983F-B0C20AF5B073}"/>
              </a:ext>
            </a:extLst>
          </p:cNvPr>
          <p:cNvSpPr/>
          <p:nvPr/>
        </p:nvSpPr>
        <p:spPr>
          <a:xfrm>
            <a:off x="6259657" y="1759527"/>
            <a:ext cx="4914900" cy="3422073"/>
          </a:xfrm>
          <a:prstGeom prst="roundRect">
            <a:avLst/>
          </a:prstGeom>
          <a:noFill/>
          <a:ln>
            <a:solidFill>
              <a:srgbClr val="064F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82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EABB910-616F-4F5E-B8E6-5309093EB548}"/>
              </a:ext>
            </a:extLst>
          </p:cNvPr>
          <p:cNvSpPr>
            <a:spLocks noGrp="1"/>
          </p:cNvSpPr>
          <p:nvPr/>
        </p:nvSpPr>
        <p:spPr>
          <a:xfrm>
            <a:off x="495300" y="333375"/>
            <a:ext cx="11201400" cy="704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本次真实协作过程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C8ECAC4-4197-483F-9987-A4037EA91AA9}"/>
              </a:ext>
            </a:extLst>
          </p:cNvPr>
          <p:cNvSpPr>
            <a:spLocks noGrp="1"/>
          </p:cNvSpPr>
          <p:nvPr/>
        </p:nvSpPr>
        <p:spPr>
          <a:xfrm>
            <a:off x="514350" y="1104900"/>
            <a:ext cx="11144250" cy="4667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需求、方案、开发与反馈，形成逐步完善的过程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38D87B-0215-4BC4-830F-C5632A6A3C75}"/>
              </a:ext>
            </a:extLst>
          </p:cNvPr>
          <p:cNvSpPr>
            <a:spLocks noGrp="1"/>
          </p:cNvSpPr>
          <p:nvPr/>
        </p:nvSpPr>
        <p:spPr>
          <a:xfrm>
            <a:off x="514350" y="6486525"/>
            <a:ext cx="102870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现代数控编程与机器人加工技术</a:t>
            </a:r>
          </a:p>
        </p:txBody>
      </p:sp>
      <p:sp>
        <p:nvSpPr>
          <p:cNvPr id="4" name="page-number">
            <a:extLst>
              <a:ext uri="{FF2B5EF4-FFF2-40B4-BE49-F238E27FC236}">
                <a16:creationId xmlns:a16="http://schemas.microsoft.com/office/drawing/2014/main" id="{F0D8AF35-3BC3-4C76-9A89-7D414B419222}"/>
              </a:ext>
            </a:extLst>
          </p:cNvPr>
          <p:cNvSpPr>
            <a:spLocks noGrp="1"/>
          </p:cNvSpPr>
          <p:nvPr/>
        </p:nvSpPr>
        <p:spPr>
          <a:xfrm>
            <a:off x="11258550" y="6486525"/>
            <a:ext cx="523875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2778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028EA8-505E-4AEB-AB87-286400926955}"/>
              </a:ext>
            </a:extLst>
          </p:cNvPr>
          <p:cNvSpPr>
            <a:spLocks noGrp="1"/>
          </p:cNvSpPr>
          <p:nvPr/>
        </p:nvSpPr>
        <p:spPr>
          <a:xfrm>
            <a:off x="571500" y="1885950"/>
            <a:ext cx="111442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提出需求 → 确认方案 → 开发功能 → 检查结果 → 反馈修改 → 完成交付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1F58D3F-CAE9-4659-8EC3-FBCD73788770}"/>
              </a:ext>
            </a:extLst>
          </p:cNvPr>
          <p:cNvSpPr>
            <a:spLocks noGrp="1"/>
          </p:cNvSpPr>
          <p:nvPr/>
        </p:nvSpPr>
        <p:spPr>
          <a:xfrm>
            <a:off x="571500" y="299085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4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4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具体例子：启动脚本的修正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7E07B3-1359-4E0C-B620-E0FD5241409F}"/>
              </a:ext>
            </a:extLst>
          </p:cNvPr>
          <p:cNvSpPr>
            <a:spLocks noGrp="1"/>
          </p:cNvSpPr>
          <p:nvPr/>
        </p:nvSpPr>
        <p:spPr>
          <a:xfrm>
            <a:off x="571500" y="3876675"/>
            <a:ext cx="1809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我反馈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CB89B2-7AF7-4544-BCA7-976E59C4829B}"/>
              </a:ext>
            </a:extLst>
          </p:cNvPr>
          <p:cNvSpPr>
            <a:spLocks noGrp="1"/>
          </p:cNvSpPr>
          <p:nvPr/>
        </p:nvSpPr>
        <p:spPr>
          <a:xfrm>
            <a:off x="2647950" y="3876675"/>
            <a:ext cx="89344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双击 BAT 出现乱码，平台无法打开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1CEB1B3-E018-4143-BFCA-1A8BDA1A03D9}"/>
              </a:ext>
            </a:extLst>
          </p:cNvPr>
          <p:cNvSpPr>
            <a:spLocks noGrp="1"/>
          </p:cNvSpPr>
          <p:nvPr/>
        </p:nvSpPr>
        <p:spPr>
          <a:xfrm>
            <a:off x="571500" y="4600575"/>
            <a:ext cx="1809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排查修正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148407D-4391-45C8-8EDF-C39558BA6783}"/>
              </a:ext>
            </a:extLst>
          </p:cNvPr>
          <p:cNvSpPr>
            <a:spLocks noGrp="1"/>
          </p:cNvSpPr>
          <p:nvPr/>
        </p:nvSpPr>
        <p:spPr>
          <a:xfrm>
            <a:off x="2647950" y="4600575"/>
            <a:ext cx="89344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统一脚本格式，补充环境检测与端口处理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5869B53-0E69-408D-A776-B7897BAF115A}"/>
              </a:ext>
            </a:extLst>
          </p:cNvPr>
          <p:cNvSpPr>
            <a:spLocks noGrp="1"/>
          </p:cNvSpPr>
          <p:nvPr/>
        </p:nvSpPr>
        <p:spPr>
          <a:xfrm>
            <a:off x="571500" y="5324475"/>
            <a:ext cx="1809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64F7C"/>
                </a:solidFill>
                <a:latin typeface="Microsoft YaHei"/>
                <a:ea typeface="Microsoft YaHei"/>
                <a:cs typeface="Microsoft YaHei"/>
              </a:rPr>
              <a:t>再次检查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D1C840-E14C-4485-99BE-F7C2A06B0577}"/>
              </a:ext>
            </a:extLst>
          </p:cNvPr>
          <p:cNvSpPr>
            <a:spLocks noGrp="1"/>
          </p:cNvSpPr>
          <p:nvPr/>
        </p:nvSpPr>
        <p:spPr>
          <a:xfrm>
            <a:off x="2647950" y="5324475"/>
            <a:ext cx="8934450" cy="5048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746"/>
                </a:solidFill>
                <a:latin typeface="Microsoft YaHei"/>
                <a:ea typeface="Microsoft YaHei"/>
                <a:cs typeface="Microsoft YaHei"/>
              </a:rPr>
              <a:t>从全新解压包启动，网页和导出功能正常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B04EDD0A-3708-4361-AA5F-B78DE5CCBC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9950" y="238125"/>
            <a:ext cx="1047750" cy="538163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06506957-587B-45DB-8CF3-2EA794E60068}"/>
              </a:ext>
            </a:extLst>
          </p:cNvPr>
          <p:cNvCxnSpPr/>
          <p:nvPr/>
        </p:nvCxnSpPr>
        <p:spPr>
          <a:xfrm>
            <a:off x="0" y="904875"/>
            <a:ext cx="12192000" cy="0"/>
          </a:xfrm>
          <a:prstGeom prst="line">
            <a:avLst/>
          </a:prstGeom>
          <a:ln w="19050">
            <a:solidFill>
              <a:srgbClr val="064F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F1B38FC-4C7A-424C-8B7A-175D506240F0}"/>
              </a:ext>
            </a:extLst>
          </p:cNvPr>
          <p:cNvCxnSpPr>
            <a:cxnSpLocks/>
          </p:cNvCxnSpPr>
          <p:nvPr/>
        </p:nvCxnSpPr>
        <p:spPr>
          <a:xfrm>
            <a:off x="0" y="894080"/>
            <a:ext cx="12192000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20C0F99-EA59-44BD-8110-B401E99D2C6A}"/>
              </a:ext>
            </a:extLst>
          </p:cNvPr>
          <p:cNvSpPr/>
          <p:nvPr/>
        </p:nvSpPr>
        <p:spPr>
          <a:xfrm>
            <a:off x="329045" y="2697739"/>
            <a:ext cx="7817427" cy="3422073"/>
          </a:xfrm>
          <a:prstGeom prst="roundRect">
            <a:avLst/>
          </a:prstGeom>
          <a:noFill/>
          <a:ln>
            <a:solidFill>
              <a:srgbClr val="064F7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形 18">
            <a:extLst>
              <a:ext uri="{FF2B5EF4-FFF2-40B4-BE49-F238E27FC236}">
                <a16:creationId xmlns:a16="http://schemas.microsoft.com/office/drawing/2014/main" id="{D0DB3FC8-B309-4D05-9410-9F3FCEB28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5825" y="3162299"/>
            <a:ext cx="338137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9394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1075</Words>
  <Application>Microsoft Office PowerPoint</Application>
  <DocSecurity>0</DocSecurity>
  <PresentationFormat>宽屏</PresentationFormat>
  <Paragraphs>139</Paragraphs>
  <Slides>13</Slides>
  <Notes>13</Notes>
  <HiddenSlides>0</HiddenSlides>
  <MMClips>1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6" baseType="lpstr">
      <vt:lpstr>Aptos</vt:lpstr>
      <vt:lpstr>Microsoft YaHei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艺政 刘</cp:lastModifiedBy>
  <cp:revision>4</cp:revision>
  <dcterms:created xsi:type="dcterms:W3CDTF">2026-10-08T01:22:56Z</dcterms:created>
  <dcterms:modified xsi:type="dcterms:W3CDTF">2026-10-08T08:05:25Z</dcterms:modified>
</cp:coreProperties>
</file>