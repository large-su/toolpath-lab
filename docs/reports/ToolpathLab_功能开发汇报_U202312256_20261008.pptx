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 汇报建议用时 5 分钟。本次成果不包含机器人试验版。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10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 讲解约 25 秒。基座 large-su/toolpath-lab。AI 编程采用 Codex LLM 与 Agent，人工确认功能范围及验证结果。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20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报告。图片为本地程序真实截图，截图证据见 qa/report_20261004/screenshots_v3/capture_evidence.json。 同视角 D16/L30，圆鼻刀鼻圆角 4 mm。截图只展示切削端局部。黄金色切削端、银色非切削刀身。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12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报告。图片为本地程序真实截图，截图证据见 qa/report_20261004/screenshots_v3/capture_evidence.json。 依据 core/surface.py。复合示例主波8mm/80,60mm，细节4mm/24,30mm，径向3mm/45mm，相位15度，纹理旋转25度。球冠是截断椭圆二次高度轮廓，非精确球面。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20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报告。图片为本地程序真实截图，截图证据见 qa/report_20261004/screenshots_v3/capture_evidence.json。 依据 planning/crosshatch.py。截图同复合面 D10，切宽6，方向0/90，F600，30条切削刀轨。边界裁剪后按曲面高度生成Z。组间安全抬刀。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12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报告。图片为本地程序真实截图，截图证据见 qa/report_20261004/screenshots_v3/capture_evidence.json。 本地六边形棱柱 OBJ 演示模型由本次任务创建，高8mm。模型参考显示，刀路仍为平面高度场。凸包22刀轨868.7mm，包围矩形22刀轨1210.0mm。凸包忽略投影凹口和孔洞。不支持STEP直接解析或任意面拾取。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12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 视频为同一切削段 move71 的真实三维窗口录制。将仿真347.84至350.32秒慢放为12秒，隐藏工件便于观察，不代表真实进给速度。依据 planning/five_axis.py 和 simulation/timeline.py。D10/L50、自由曲面幅8波长80/40、前倾12侧倾0、平滑范围4mm、偏差上限5度、仿真角速度30度每秒。演示B约50.64至1.01度。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25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报告。图片为本地程序真实截图，截图证据见 qa/report_20261004/screenshots_v3/capture_evidence.json。 对照球头D10/L50、80方形自由曲面幅8波长80/40。固定3mm五轴与目标0.30mm五轴自适应，其他姿态参数相同。颜色表示每条刀轨的步距，暖色更密、蓝绿色更稀，不是曲面热图。基础步距按球头弓高s0=2sqrt(2Rh-h²)，然后以横向二阶高度变化缩小步距。先生成自适应XYZ，再由共用模块赋予刀轴。工程近似未证明倾斜刀具严格等残留。</a:t>
            </a:r>
            <a:endParaRPr lang="zh-CN" altLang="en-US"/>
          </a:p>
          <a:p>
            <a:r>
              <a:rPr lang="zh-CN" altLang="en-US"/>
              <a:t>本页数值与截图为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4</a:t>
            </a:r>
            <a:r>
              <a:rPr lang="zh-CN" altLang="en-US"/>
              <a:t>日历史实验，保留用于方法对比；最新验证为</a:t>
            </a:r>
            <a:r>
              <a:rPr lang="en-US" altLang="zh-CN"/>
              <a:t>234</a:t>
            </a:r>
            <a:r>
              <a:rPr lang="zh-CN" altLang="en-US"/>
              <a:t>项</a:t>
            </a:r>
            <a:r>
              <a:rPr lang="en-US" altLang="zh-CN"/>
              <a:t>Python</a:t>
            </a:r>
            <a:r>
              <a:rPr lang="zh-CN" altLang="en-US"/>
              <a:t>与</a:t>
            </a:r>
            <a:r>
              <a:rPr lang="en-US" altLang="zh-CN"/>
              <a:t>28</a:t>
            </a:r>
            <a:r>
              <a:rPr lang="zh-CN" altLang="en-US"/>
              <a:t>项</a:t>
            </a:r>
            <a:r>
              <a:rPr lang="en-US" altLang="zh-CN"/>
              <a:t>JS</a:t>
            </a:r>
            <a:r>
              <a:rPr lang="zh-CN" altLang="en-US"/>
              <a:t>。</a:t>
            </a:r>
          </a:p>
          <a:p>
            <a:r>
              <a:rPr lang="zh-CN" altLang="en-US"/>
              <a:t>本页建议讲解 </a:t>
            </a:r>
            <a:r>
              <a:rPr lang="en-US" altLang="zh-CN"/>
              <a:t>35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 视频为真实本地三维窗口记录。仿真0至1813.66秒压缩为15秒，画面逐步推进时间位置，非真实机床速度。球头D6/L30、80方形、自由曲面幅4波长80/60、栅格步距6、F600。粗加工层深2、余量0.5、共5层。材料为2mm高度场近似，非网格布尔或完整倾斜刀具扫掠。最后是精加工入口，非全部加工完成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25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报告。图片为本地程序真实截图，截图证据见 qa/report_20261004/screenshots_v3/capture_evidence.json。 当前剩余毛坯的高度场与有限刀身检测。直接加工约4.98s重叠0.21mm，分层粗加工后1813.66s进入精加工时未报告干涉。后者切除33.39%、余55420mm3，只是此截图时刻。正常切削端接触不视为刀身干涉。阈值0.1mm；仅Z区间重叠，不是最短空间距离。检测不包括夹具、机床或完整刀柄装配。</a:t>
            </a:r>
            <a:endParaRPr lang="zh-CN" altLang="en-US"/>
          </a:p>
          <a:p>
            <a:r>
              <a:rPr lang="zh-CN" altLang="en-US"/>
              <a:t>本页数值与截图为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4</a:t>
            </a:r>
            <a:r>
              <a:rPr lang="zh-CN" altLang="en-US"/>
              <a:t>日历史实验，保留用于方法对比；最新验证为</a:t>
            </a:r>
            <a:r>
              <a:rPr lang="en-US" altLang="zh-CN"/>
              <a:t>234</a:t>
            </a:r>
            <a:r>
              <a:rPr lang="zh-CN" altLang="en-US"/>
              <a:t>项</a:t>
            </a:r>
            <a:r>
              <a:rPr lang="en-US" altLang="zh-CN"/>
              <a:t>Python</a:t>
            </a:r>
            <a:r>
              <a:rPr lang="zh-CN" altLang="en-US"/>
              <a:t>与</a:t>
            </a:r>
            <a:r>
              <a:rPr lang="en-US" altLang="zh-CN"/>
              <a:t>28</a:t>
            </a:r>
            <a:r>
              <a:rPr lang="zh-CN" altLang="en-US"/>
              <a:t>项</a:t>
            </a:r>
            <a:r>
              <a:rPr lang="en-US" altLang="zh-CN"/>
              <a:t>JS</a:t>
            </a:r>
            <a:r>
              <a:rPr lang="zh-CN" altLang="en-US"/>
              <a:t>。</a:t>
            </a:r>
          </a:p>
          <a:p>
            <a:r>
              <a:rPr lang="zh-CN" altLang="en-US"/>
              <a:t>本页建议讲解 </a:t>
            </a:r>
            <a:r>
              <a:rPr lang="en-US" altLang="zh-CN"/>
              <a:t>20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约25秒。左右均为当前程序截图。环切分圈，连续螺旋只有一段精加工CUT。</a:t>
            </a:r>
            <a:r>
              <a:rPr lang="en-US"/>
              <a:t>新增两种策略目前为三轴且要求凸区域。</a:t>
            </a:r>
            <a:endParaRPr lang="zh-CN" altLang="en-US"/>
          </a:p>
          <a:p>
            <a:r>
              <a:rPr lang="zh-CN" altLang="en-US"/>
              <a:t>来源：环切参考项目原有示例；螺旋、刀具预设及覆盖分析参考</a:t>
            </a:r>
            <a:r>
              <a:rPr lang="en-US"/>
              <a:t>MIT</a:t>
            </a:r>
            <a:r>
              <a:rPr lang="zh-CN" altLang="en-US"/>
              <a:t>项目</a:t>
            </a:r>
            <a:r>
              <a:rPr lang="en-US"/>
              <a:t>U202310887</a:t>
            </a:r>
            <a:r>
              <a:rPr lang="zh-CN" altLang="en-US"/>
              <a:t>分支提交</a:t>
            </a:r>
            <a:r>
              <a:rPr lang="en-US" altLang="zh-CN"/>
              <a:t>495</a:t>
            </a:r>
            <a:r>
              <a:rPr lang="en-US"/>
              <a:t>eab75</a:t>
            </a:r>
            <a:r>
              <a:rPr lang="zh-CN" altLang="en-US"/>
              <a:t>的单项思路。重新适配无机器人版，未合并整条分支。对应 </a:t>
            </a:r>
            <a:r>
              <a:rPr lang="en-US"/>
              <a:t>docs/contour-spiral.md、tool-library.md、coverage.md </a:t>
            </a:r>
            <a:r>
              <a:rPr lang="zh-CN" altLang="en-US"/>
              <a:t>有完整出处。</a:t>
            </a:r>
          </a:p>
          <a:p>
            <a:r>
              <a:rPr lang="zh-CN" altLang="en-US"/>
              <a:t>本页建议讲解 </a:t>
            </a:r>
            <a:r>
              <a:rPr lang="en-US" altLang="zh-CN"/>
              <a:t>20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36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约25秒。8个预设覆盖三类刀具，只修改几何参数，不自动确定安全加工速度。覆盖是整条精加工的XY圆形投影估算，</a:t>
            </a:r>
            <a:r>
              <a:rPr lang="en-US"/>
              <a:t>不是材料切除比例。</a:t>
            </a:r>
            <a:endParaRPr lang="zh-CN" altLang="en-US"/>
          </a:p>
          <a:p>
            <a:r>
              <a:rPr lang="zh-CN" altLang="en-US"/>
              <a:t>来源：环切参考项目原有示例；螺旋、刀具预设及覆盖分析参考</a:t>
            </a:r>
            <a:r>
              <a:rPr lang="en-US"/>
              <a:t>MIT</a:t>
            </a:r>
            <a:r>
              <a:rPr lang="zh-CN" altLang="en-US"/>
              <a:t>项目</a:t>
            </a:r>
            <a:r>
              <a:rPr lang="en-US"/>
              <a:t>U202310887</a:t>
            </a:r>
            <a:r>
              <a:rPr lang="zh-CN" altLang="en-US"/>
              <a:t>分支提交</a:t>
            </a:r>
            <a:r>
              <a:rPr lang="en-US" altLang="zh-CN"/>
              <a:t>495</a:t>
            </a:r>
            <a:r>
              <a:rPr lang="en-US"/>
              <a:t>eab75</a:t>
            </a:r>
            <a:r>
              <a:rPr lang="zh-CN" altLang="en-US"/>
              <a:t>的单项思路。重新适配无机器人版，未合并整条分支。对应 </a:t>
            </a:r>
            <a:r>
              <a:rPr lang="en-US"/>
              <a:t>docs/contour-spiral.md、tool-library.md、coverage.md </a:t>
            </a:r>
            <a:r>
              <a:rPr lang="zh-CN" altLang="en-US"/>
              <a:t>有完整出处。</a:t>
            </a:r>
          </a:p>
          <a:p>
            <a:r>
              <a:rPr lang="zh-CN" altLang="en-US"/>
              <a:t>本页建议讲解 </a:t>
            </a:r>
            <a:r>
              <a:rPr lang="en-US" altLang="zh-CN"/>
              <a:t>20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99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约25秒。当前图展示修复后的圆形毛坯。警告可以关闭，但不改变规划、不停用刀身检测、不取消碰撞暂停。</a:t>
            </a:r>
            <a:r>
              <a:rPr lang="en-US"/>
              <a:t>仿真仍是高度场近似。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20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17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 依据 qa/report_20261004/evidence.json 与本地日志。Python192项，JS20项均exit0。已测D6默认曲面粗加工案例4种规划器的高度场检测未报刀身干涉，结论限于模型和案例。当前未做真实机床实验或特定论文完整复现。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12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本地无机器人版 ToolpathLab，分支 U202312256，2026-10-04。代码与参数见配套 Word 报告。 讲解约25秒。示例与Word第10章一致。前倾12侧倾0、平滑4mm/5度/30度每秒。先看俯视密度，再从侧面播放看姿态。现场访问本机127.0.0.1:8771前需后端运行。学号作为分支名称。</a:t>
            </a:r>
            <a:endParaRPr lang="zh-CN" altLang="en-US"/>
          </a:p>
          <a:p>
            <a:r>
              <a:rPr lang="zh-CN" altLang="en-US"/>
              <a:t>本页建议讲解 </a:t>
            </a:r>
            <a:r>
              <a:rPr lang="en-US" altLang="zh-CN"/>
              <a:t>12 </a:t>
            </a:r>
            <a:r>
              <a:rPr lang="zh-CN" altLang="en-US"/>
              <a:t>秒；全稿约</a:t>
            </a:r>
            <a:r>
              <a:rPr lang="en-US" altLang="zh-CN"/>
              <a:t>5</a:t>
            </a:r>
            <a:r>
              <a:rPr lang="zh-CN" altLang="en-US"/>
              <a:t>分钟（含视频）。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89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2D23CFD-024D-46A6-9A1D-A985A60437E0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01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85FA02-4AB8-44B9-83A9-3533F632A6A4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5715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8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ToolpathLab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D8AB6F-3540-4B0A-A3B7-D3A48C38B0F4}"/>
              </a:ext>
            </a:extLst>
          </p:cNvPr>
          <p:cNvSpPr>
            <a:spLocks noGrp="1"/>
          </p:cNvSpPr>
          <p:nvPr/>
        </p:nvSpPr>
        <p:spPr>
          <a:xfrm>
            <a:off x="533400" y="2228850"/>
            <a:ext cx="5715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35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功能开发汇报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5309A8-C853-4A72-BF93-90461F34AED1}"/>
              </a:ext>
            </a:extLst>
          </p:cNvPr>
          <p:cNvSpPr>
            <a:spLocks noGrp="1"/>
          </p:cNvSpPr>
          <p:nvPr/>
        </p:nvSpPr>
        <p:spPr>
          <a:xfrm>
            <a:off x="533400" y="3381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0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刀路规划功能开发训练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437AF0-0F55-41FF-9615-64449D0B617C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5524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U202312256</a:t>
            </a:r>
          </a:p>
          <a:p>
            <a:pPr algn="l">
              <a:defRPr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2026 </a:t>
            </a:r>
            <a:r>
              <a:rPr lang="zh-CN" altLang="en-US"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年 </a:t>
            </a:r>
            <a:r>
              <a:rPr lang="en-US" altLang="zh-CN"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10 </a:t>
            </a:r>
            <a:r>
              <a:rPr lang="zh-CN" altLang="en-US"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月 </a:t>
            </a:r>
            <a:r>
              <a:rPr lang="en-US" altLang="zh-CN"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8 </a:t>
            </a:r>
            <a:r>
              <a:rPr lang="zh-CN" altLang="en-US" sz="19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日</a:t>
            </a:r>
            <a:endParaRPr sz="19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19850" y="1554163"/>
            <a:ext cx="523875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67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53FBF9F-694D-4C77-95BE-3417EBC07E77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已实现功能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FBF34F-95AB-44E9-BFE8-29E8340D15B6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02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表格 7"/>
          <p:cNvGraphicFramePr/>
          <p:nvPr>
            <p:extLst>
              <p:ext uri="{D42A27DB-BD31-4B8C-83A1-F6EECF244321}">
                <p14:modId xmlns:p14="http://schemas.microsoft.com/office/powerpoint/2010/main" val="3337253359"/>
              </p:ext>
            </p:extLst>
          </p:nvPr>
        </p:nvGraphicFramePr>
        <p:xfrm>
          <a:off x="533400" y="1352550"/>
          <a:ext cx="11125200" cy="3714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实现内容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刀路规划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交叉栅格、环切、螺旋、自适应与五轴组合</a:t>
                      </a:r>
                      <a:endParaRPr sz="1800" b="0">
                        <a:solidFill>
                          <a:srgbClr val="F3F7F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刀具与曲面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三类刀具 </a:t>
                      </a:r>
                      <a:r>
                        <a:rPr lang="en-US" altLang="zh-CN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8 </a:t>
                      </a:r>
                      <a:r>
                        <a:rPr lang="zh-CN" altLang="en-US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个预设、六类参数化曲面</a:t>
                      </a:r>
                      <a:endParaRPr sz="1800" b="0">
                        <a:solidFill>
                          <a:srgbClr val="F3F7F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五轴姿态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逐点刀轴、前倾与侧倾、姿态平滑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导入与选区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OBJ/STL、XY 凸包或包围矩形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仿真与检测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材料切除、体积统计、刀身干涉提示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前置粗加工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分层清料、保留余量、先粗后精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9A52D6D-861E-4CAD-BFA6-DF0BC0B0B274}"/>
              </a:ext>
            </a:extLst>
          </p:cNvPr>
          <p:cNvSpPr>
            <a:spLocks noGrp="1"/>
          </p:cNvSpPr>
          <p:nvPr/>
        </p:nvSpPr>
        <p:spPr>
          <a:xfrm>
            <a:off x="533400" y="5381625"/>
            <a:ext cx="11125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Python 负责规划，JavaScript / three.js 负责三维播放。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2AE8B2-ACFE-4554-BEC7-B766E5993BC4}"/>
              </a:ext>
            </a:extLst>
          </p:cNvPr>
          <p:cNvSpPr>
            <a:spLocks noGrp="1"/>
          </p:cNvSpPr>
          <p:nvPr/>
        </p:nvSpPr>
        <p:spPr>
          <a:xfrm>
            <a:off x="533400" y="5848350"/>
            <a:ext cx="11125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Codex 辅助分析与实现，测试和界面反馈驱动迭代。</a:t>
            </a:r>
          </a:p>
        </p:txBody>
      </p:sp>
    </p:spTree>
    <p:extLst>
      <p:ext uri="{BB962C8B-B14F-4D97-AF65-F5344CB8AC3E}">
        <p14:creationId xmlns:p14="http://schemas.microsoft.com/office/powerpoint/2010/main" val="83237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9E84FDA-A729-489D-B922-4362F04372F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三类刀具的参数化建模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F6C131-B06D-4155-B8AE-61B46894847D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03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18BD5E-46A6-40EF-A745-CFE4FF4BE05F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平底刀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829065"/>
            <a:ext cx="3524250" cy="244739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6FBA293-946C-4662-AD02-960C9F45F1F9}"/>
              </a:ext>
            </a:extLst>
          </p:cNvPr>
          <p:cNvSpPr>
            <a:spLocks noGrp="1"/>
          </p:cNvSpPr>
          <p:nvPr/>
        </p:nvSpPr>
        <p:spPr>
          <a:xfrm>
            <a:off x="4333875" y="12763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球头刀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1829065"/>
            <a:ext cx="3524250" cy="244739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FF062D2-01FA-46F0-A04D-4BB0282DBBFC}"/>
              </a:ext>
            </a:extLst>
          </p:cNvPr>
          <p:cNvSpPr>
            <a:spLocks noGrp="1"/>
          </p:cNvSpPr>
          <p:nvPr/>
        </p:nvSpPr>
        <p:spPr>
          <a:xfrm>
            <a:off x="8134350" y="12763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圆鼻刀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34350" y="1829065"/>
            <a:ext cx="3524250" cy="244739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3165B62-6815-429C-9A8D-125E3DE21FCA}"/>
              </a:ext>
            </a:extLst>
          </p:cNvPr>
          <p:cNvSpPr>
            <a:spLocks noGrp="1"/>
          </p:cNvSpPr>
          <p:nvPr/>
        </p:nvSpPr>
        <p:spPr>
          <a:xfrm>
            <a:off x="533400" y="4857750"/>
            <a:ext cx="11125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统一设置：直径 D=16 mm，长度 L=30 mm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B42092-BEF4-4110-9E87-3145F2841CF1}"/>
              </a:ext>
            </a:extLst>
          </p:cNvPr>
          <p:cNvSpPr>
            <a:spLocks noGrp="1"/>
          </p:cNvSpPr>
          <p:nvPr/>
        </p:nvSpPr>
        <p:spPr>
          <a:xfrm>
            <a:off x="533400" y="5362575"/>
            <a:ext cx="11125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圆鼻刀支持鼻圆角设置，三维几何随参数更新。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03D635-2579-4EF0-909D-08D5D846846A}"/>
              </a:ext>
            </a:extLst>
          </p:cNvPr>
          <p:cNvSpPr>
            <a:spLocks noGrp="1"/>
          </p:cNvSpPr>
          <p:nvPr/>
        </p:nvSpPr>
        <p:spPr>
          <a:xfrm>
            <a:off x="533400" y="5895975"/>
            <a:ext cx="111252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教学刀身尺寸用于显示和检测，真实装配仍需单独建模。</a:t>
            </a:r>
          </a:p>
        </p:txBody>
      </p:sp>
    </p:spTree>
    <p:extLst>
      <p:ext uri="{BB962C8B-B14F-4D97-AF65-F5344CB8AC3E}">
        <p14:creationId xmlns:p14="http://schemas.microsoft.com/office/powerpoint/2010/main" val="1103553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2493D2B-374D-4DB7-BABB-2DDE5D55533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六类曲面与多尺度设计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09C3E9-67E0-4711-8297-3D60A2FFAEDA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04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26D657-0B85-4FBD-B328-F3C24B634BE6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3286125" cy="3143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平面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自由曲面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鞍形曲面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球冠或凹坑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径向波纹面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多尺度复合面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95750" y="1324546"/>
            <a:ext cx="7562850" cy="350405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121417D-0438-40B2-9E15-8B7031C787E9}"/>
              </a:ext>
            </a:extLst>
          </p:cNvPr>
          <p:cNvSpPr>
            <a:spLocks noGrp="1"/>
          </p:cNvSpPr>
          <p:nvPr/>
        </p:nvSpPr>
        <p:spPr>
          <a:xfrm>
            <a:off x="4095750" y="5124450"/>
            <a:ext cx="75628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复合面叠加长波、局部细节与径向起伏。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019DCD-AFF2-4003-8E15-090F34B6C90F}"/>
              </a:ext>
            </a:extLst>
          </p:cNvPr>
          <p:cNvSpPr>
            <a:spLocks noGrp="1"/>
          </p:cNvSpPr>
          <p:nvPr/>
        </p:nvSpPr>
        <p:spPr>
          <a:xfrm>
            <a:off x="533400" y="5943600"/>
            <a:ext cx="111252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当前曲面为单值高度场 z=f(x,y)，不能表达倒扣或悬垂。</a:t>
            </a:r>
          </a:p>
        </p:txBody>
      </p:sp>
    </p:spTree>
    <p:extLst>
      <p:ext uri="{BB962C8B-B14F-4D97-AF65-F5344CB8AC3E}">
        <p14:creationId xmlns:p14="http://schemas.microsoft.com/office/powerpoint/2010/main" val="46624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495CCBD-578A-4B7C-A97E-802437B5CC4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交叉栅格刀路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C01263-7674-436F-BEFE-E5A199A6F1C8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05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D2EF05-93B9-44BC-B52F-BAA384AFC4C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两组扫描方向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C97ADE-BF6B-4D92-9FB7-48D17FEEC010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238500" cy="16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第一组 0°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第二组 90°</a:t>
            </a:r>
          </a:p>
          <a:p>
            <a:pPr algn="l">
              <a:def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切宽 6 mm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2DB74A-532F-4A93-BF53-0708947CF398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3200400" cy="1209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先裁剪区域边界，再按曲面高度生成刀点。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14800" y="1581371"/>
            <a:ext cx="7543800" cy="349523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FCD3D15-218D-4185-A97F-6C82FEC7413A}"/>
              </a:ext>
            </a:extLst>
          </p:cNvPr>
          <p:cNvSpPr>
            <a:spLocks noGrp="1"/>
          </p:cNvSpPr>
          <p:nvPr/>
        </p:nvSpPr>
        <p:spPr>
          <a:xfrm>
            <a:off x="533400" y="5943600"/>
            <a:ext cx="111252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示例生成 30 条切削刀轨，组间采用安全抬刀连接。</a:t>
            </a:r>
          </a:p>
        </p:txBody>
      </p:sp>
    </p:spTree>
    <p:extLst>
      <p:ext uri="{BB962C8B-B14F-4D97-AF65-F5344CB8AC3E}">
        <p14:creationId xmlns:p14="http://schemas.microsoft.com/office/powerpoint/2010/main" val="148298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B043DC9-630C-403C-839B-73CC0942624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模型导入与区域选择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944CBE-D8CC-41AF-9DD6-51939CBD9185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06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758D35-1563-4183-BBAB-597846B4C795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5314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XY 凸包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267F1F-42E4-4A23-A5A0-203419FCAF1C}"/>
              </a:ext>
            </a:extLst>
          </p:cNvPr>
          <p:cNvSpPr>
            <a:spLocks noGrp="1"/>
          </p:cNvSpPr>
          <p:nvPr/>
        </p:nvSpPr>
        <p:spPr>
          <a:xfrm>
            <a:off x="6343650" y="1295400"/>
            <a:ext cx="5314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XY 包围矩形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869112"/>
            <a:ext cx="5314950" cy="24625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3650" y="1869112"/>
            <a:ext cx="5314950" cy="24625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D8AC7EB-5678-4156-BE03-2F67CCBBFB6E}"/>
              </a:ext>
            </a:extLst>
          </p:cNvPr>
          <p:cNvSpPr>
            <a:spLocks noGrp="1"/>
          </p:cNvSpPr>
          <p:nvPr/>
        </p:nvSpPr>
        <p:spPr>
          <a:xfrm>
            <a:off x="533400" y="4619625"/>
            <a:ext cx="53149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沿六边形投影边界规划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B3DC2F-47EF-4CC2-8299-B9FEB2EB0076}"/>
              </a:ext>
            </a:extLst>
          </p:cNvPr>
          <p:cNvSpPr>
            <a:spLocks noGrp="1"/>
          </p:cNvSpPr>
          <p:nvPr/>
        </p:nvSpPr>
        <p:spPr>
          <a:xfrm>
            <a:off x="6343650" y="4619625"/>
            <a:ext cx="53149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规划范围包含外部空白区域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556AA3-69B3-4179-87BA-C0E27198636C}"/>
              </a:ext>
            </a:extLst>
          </p:cNvPr>
          <p:cNvSpPr>
            <a:spLocks noGrp="1"/>
          </p:cNvSpPr>
          <p:nvPr/>
        </p:nvSpPr>
        <p:spPr>
          <a:xfrm>
            <a:off x="533400" y="5762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OBJ/STL 提供参考网格与选区边界，当前不直接加工导入网格曲面。</a:t>
            </a:r>
          </a:p>
        </p:txBody>
      </p:sp>
    </p:spTree>
    <p:extLst>
      <p:ext uri="{BB962C8B-B14F-4D97-AF65-F5344CB8AC3E}">
        <p14:creationId xmlns:p14="http://schemas.microsoft.com/office/powerpoint/2010/main" val="181544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EAE6DE4-3A5C-4A1F-BAA5-83192B187F49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逐点五轴姿态与平滑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A788FE-50BD-48E3-A044-EACDB0434FDE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07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0609A7-C0E4-4CCF-A6EE-046DB552DB88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同一刀轨内连续转向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44B4B6-0900-40AA-8B3A-4CBC7D4B5176}"/>
              </a:ext>
            </a:extLst>
          </p:cNvPr>
          <p:cNvSpPr>
            <a:spLocks noGrp="1"/>
          </p:cNvSpPr>
          <p:nvPr/>
        </p:nvSpPr>
        <p:spPr>
          <a:xfrm>
            <a:off x="533400" y="2457450"/>
            <a:ext cx="3238500" cy="1304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刀轴随局部法向变化</a:t>
            </a:r>
          </a:p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前倾角 12°，侧倾角 0°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0109DE-75E6-4ED8-A1F9-8BFD94A53378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3238500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平滑范围 4 mm</a:t>
            </a:r>
          </a:p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偏差上限 5°</a:t>
            </a:r>
          </a:p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仿真角速度 30°/s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FCCE2-0625-4533-8FBA-7AEDCEC9FC9F}"/>
              </a:ext>
            </a:extLst>
          </p:cNvPr>
          <p:cNvSpPr>
            <a:spLocks noGrp="1"/>
          </p:cNvSpPr>
          <p:nvPr/>
        </p:nvSpPr>
        <p:spPr>
          <a:xfrm>
            <a:off x="4095750" y="6115050"/>
            <a:ext cx="75628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12 秒慢放录屏，放映时点击视频播放。</a:t>
            </a:r>
          </a:p>
        </p:txBody>
      </p:sp>
      <p:pic>
        <p:nvPicPr>
          <p:cNvPr id="6" name="Embedded five_axis_pose" descr="本地 ToolpathLab 实际三维窗口录屏">
            <a:hlinkClick r:id="" action="ppaction://media"/>
            <a:extLst>
              <a:ext uri="{FF2B5EF4-FFF2-40B4-BE49-F238E27FC236}">
                <a16:creationId xmlns:a16="http://schemas.microsoft.com/office/drawing/2014/main" id="{71620B3A-05B6-4490-6960-CC6E368D4F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95750" y="1419226"/>
            <a:ext cx="755964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544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939B232-0E6B-4EC6-BC1B-C49264469897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固定步距与五轴自适应组合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0E9C43-6248-4AD7-94C0-05DE11B48072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08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D3E3FD-9E26-42E3-9F92-4E69A0B849E3}"/>
              </a:ext>
            </a:extLst>
          </p:cNvPr>
          <p:cNvSpPr>
            <a:spLocks noGrp="1"/>
          </p:cNvSpPr>
          <p:nvPr/>
        </p:nvSpPr>
        <p:spPr>
          <a:xfrm>
            <a:off x="533400" y="1266825"/>
            <a:ext cx="5314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固定步距五轴（局部放大）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DFDC40-D15E-40E7-81C2-3F9409D7C6C4}"/>
              </a:ext>
            </a:extLst>
          </p:cNvPr>
          <p:cNvSpPr>
            <a:spLocks noGrp="1"/>
          </p:cNvSpPr>
          <p:nvPr/>
        </p:nvSpPr>
        <p:spPr>
          <a:xfrm>
            <a:off x="6343650" y="1266825"/>
            <a:ext cx="5314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五轴自适应（局部放大）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32500" t="30000" r="32500" b="30000"/>
          <a:stretch/>
        </p:blipFill>
        <p:spPr>
          <a:xfrm>
            <a:off x="533400" y="1809750"/>
            <a:ext cx="5314950" cy="24669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l="32500" t="30000" r="32500" b="30000"/>
          <a:stretch/>
        </p:blipFill>
        <p:spPr>
          <a:xfrm>
            <a:off x="6343650" y="1809750"/>
            <a:ext cx="5314950" cy="2466975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533400" y="4591050"/>
          <a:ext cx="11125200" cy="1343025"/>
        </p:xfrm>
        <a:graphic>
          <a:graphicData uri="http://schemas.openxmlformats.org/drawingml/2006/table">
            <a:tbl>
              <a:tblPr/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刀轨数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实际步距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切削长度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3 mm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3.00 mm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2349.8 mm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目标残留 0.30 mm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1.22～3.32 mm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3540.8 mm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7A79C11-B232-4960-89F6-1C7D904EB4FC}"/>
              </a:ext>
            </a:extLst>
          </p:cNvPr>
          <p:cNvSpPr>
            <a:spLocks noGrp="1"/>
          </p:cNvSpPr>
          <p:nvPr/>
        </p:nvSpPr>
        <p:spPr>
          <a:xfrm>
            <a:off x="533400" y="6143625"/>
            <a:ext cx="111252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自适应控制刀线间距，五轴模块赋予姿态，残留高度仍为教学估算。</a:t>
            </a:r>
          </a:p>
        </p:txBody>
      </p:sp>
    </p:spTree>
    <p:extLst>
      <p:ext uri="{BB962C8B-B14F-4D97-AF65-F5344CB8AC3E}">
        <p14:creationId xmlns:p14="http://schemas.microsoft.com/office/powerpoint/2010/main" val="127497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34B2A5B-9218-47B8-8A92-10E4AD666A4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分层粗加工与材料切除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B19AB-96B3-46B4-AE69-3914FCF113B9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09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8A4FC-4803-4215-A9B2-8C71B6F6F07F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先粗后精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6DC145-70A3-44BA-A7CC-7B9AEDF78F47}"/>
              </a:ext>
            </a:extLst>
          </p:cNvPr>
          <p:cNvSpPr>
            <a:spLocks noGrp="1"/>
          </p:cNvSpPr>
          <p:nvPr/>
        </p:nvSpPr>
        <p:spPr>
          <a:xfrm>
            <a:off x="533400" y="2314575"/>
            <a:ext cx="32385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层深 2 mm</a:t>
            </a:r>
          </a:p>
          <a:p>
            <a:pPr algn="l">
              <a:def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精加工余量 0.5 mm</a:t>
            </a:r>
          </a:p>
          <a:p>
            <a:pPr algn="l">
              <a:def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共 5 层粗加工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5A1678-63D8-4B28-90DF-F13528EA6B5B}"/>
              </a:ext>
            </a:extLst>
          </p:cNvPr>
          <p:cNvSpPr>
            <a:spLocks noGrp="1"/>
          </p:cNvSpPr>
          <p:nvPr/>
        </p:nvSpPr>
        <p:spPr>
          <a:xfrm>
            <a:off x="533400" y="4295775"/>
            <a:ext cx="3238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材料切除可独立开关</a:t>
            </a:r>
          </a:p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支持回退重建和体积统计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CC82C4-260B-4534-A353-AD6EDC6BCC68}"/>
              </a:ext>
            </a:extLst>
          </p:cNvPr>
          <p:cNvSpPr>
            <a:spLocks noGrp="1"/>
          </p:cNvSpPr>
          <p:nvPr/>
        </p:nvSpPr>
        <p:spPr>
          <a:xfrm>
            <a:off x="4095750" y="6115050"/>
            <a:ext cx="75628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12 </a:t>
            </a:r>
            <a:r>
              <a:rPr lang="zh-CN" altLang="en-US"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秒</a:t>
            </a: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时间压缩录屏，结束于精加工入口。</a:t>
            </a:r>
          </a:p>
        </p:txBody>
      </p:sp>
      <p:pic>
        <p:nvPicPr>
          <p:cNvPr id="9" name="材料切除 当前版本 12秒时间压缩实录" descr="2026年10月8日重新录制，粗加工起点至精加工入口，非真实速度">
            <a:hlinkClick r:id="" action="ppaction://media"/>
            <a:extLst>
              <a:ext uri="{FF2B5EF4-FFF2-40B4-BE49-F238E27FC236}">
                <a16:creationId xmlns:a16="http://schemas.microsoft.com/office/drawing/2014/main" id="{006D2A0A-6513-4D1C-F0AE-292DEB6E0B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26203" y="1419226"/>
            <a:ext cx="589873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9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64B4852-EBF6-4C33-AE6F-985B9CEEC4F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刀身干涉检测与清料效果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8CE38A-6369-4F46-AFEE-3B01960AF7C2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10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9B8CE8-2408-4241-AF01-BBEB426DFDD8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5314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3C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CF55"/>
                </a:solidFill>
                <a:latin typeface="Microsoft YaHei"/>
                <a:ea typeface="Microsoft YaHei"/>
                <a:cs typeface="Microsoft YaHei"/>
              </a:rPr>
              <a:t>直接进入精加工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6E0ED1-A32A-4A4D-9530-15CC5ABFC7E7}"/>
              </a:ext>
            </a:extLst>
          </p:cNvPr>
          <p:cNvSpPr>
            <a:spLocks noGrp="1"/>
          </p:cNvSpPr>
          <p:nvPr/>
        </p:nvSpPr>
        <p:spPr>
          <a:xfrm>
            <a:off x="6343650" y="1304925"/>
            <a:ext cx="5314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分层清料后进入精加工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869112"/>
            <a:ext cx="5314950" cy="24625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3650" y="1869112"/>
            <a:ext cx="5314950" cy="24625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20E1385-AA1D-4045-A3A5-5BD687453BC7}"/>
              </a:ext>
            </a:extLst>
          </p:cNvPr>
          <p:cNvSpPr>
            <a:spLocks noGrp="1"/>
          </p:cNvSpPr>
          <p:nvPr/>
        </p:nvSpPr>
        <p:spPr>
          <a:xfrm>
            <a:off x="533400" y="4638675"/>
            <a:ext cx="531495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约 4.98 s 刀身标红</a:t>
            </a:r>
          </a:p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估计竖直重叠约 0.21 mm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1EE951-5ED2-4B40-B4F6-FDD16D024E12}"/>
              </a:ext>
            </a:extLst>
          </p:cNvPr>
          <p:cNvSpPr>
            <a:spLocks noGrp="1"/>
          </p:cNvSpPr>
          <p:nvPr/>
        </p:nvSpPr>
        <p:spPr>
          <a:xfrm>
            <a:off x="6343650" y="4638675"/>
            <a:ext cx="531495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该入口时刻未检出干涉</a:t>
            </a:r>
          </a:p>
          <a:p>
            <a:pPr algn="l">
              <a:def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已切除约 33.39%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4BE6A1-C55C-4DEE-8C5C-3598CB0B928D}"/>
              </a:ext>
            </a:extLst>
          </p:cNvPr>
          <p:cNvSpPr>
            <a:spLocks noGrp="1"/>
          </p:cNvSpPr>
          <p:nvPr/>
        </p:nvSpPr>
        <p:spPr>
          <a:xfrm>
            <a:off x="533400" y="5943600"/>
            <a:ext cx="111252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检测提供提示与暂停，粗加工降低余料干涉风险，安全仍需专门校核。</a:t>
            </a:r>
          </a:p>
        </p:txBody>
      </p:sp>
    </p:spTree>
    <p:extLst>
      <p:ext uri="{BB962C8B-B14F-4D97-AF65-F5344CB8AC3E}">
        <p14:creationId xmlns:p14="http://schemas.microsoft.com/office/powerpoint/2010/main" val="997649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环切与连续螺旋：增加沿轮廓走刀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 80 mm · 平底刀 D6 / L30 · 步距 3 mm · 三轴凸区域策略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U202312256 · 当前程序实拍 · 2026.10.08</a:t>
            </a:r>
            <a:endParaRPr lang="en-US" sz="1000" dirty="0"/>
          </a:p>
        </p:txBody>
      </p:sp>
      <p:pic>
        <p:nvPicPr>
          <p:cNvPr id="5" name="Image 0" descr="E:\CodexTools\Codex\2026-09-23\new-chat\work\toolpath-assignment\qa\update_20261008\con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17" y="1691640"/>
            <a:ext cx="4836966" cy="3749040"/>
          </a:xfrm>
          <a:prstGeom prst="rect">
            <a:avLst/>
          </a:prstGeom>
        </p:spPr>
      </p:pic>
      <p:pic>
        <p:nvPicPr>
          <p:cNvPr id="6" name="Image 1" descr="E:\CodexTools\Codex\2026-09-23\new-chat\work\toolpath-assignment\qa\update_20261008\spi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069" y="1691640"/>
            <a:ext cx="4836966" cy="3749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5486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环切：逐圈向内加工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400800" y="54864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螺旋：一段连续切削，中途不抬刀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85800" y="5961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保持原有五轴与自适应策略；新增两种策略不等同严格等残留高度规划。</a:t>
            </a:r>
            <a:endParaRPr lang="en-US" sz="13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C580A9-EE5D-DC9C-1F72-FD809281CFFB}"/>
              </a:ext>
            </a:extLst>
          </p:cNvPr>
          <p:cNvSpPr txBox="1"/>
          <p:nvPr/>
        </p:nvSpPr>
        <p:spPr>
          <a:xfrm>
            <a:off x="10934700" y="6413500"/>
            <a:ext cx="723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A0B5BF"/>
                </a:solidFill>
                <a:latin typeface="Microsoft YaHei" panose="020B0503020204020204" pitchFamily="34" charset="-122"/>
              </a:rPr>
              <a:t>11 / 15</a:t>
            </a:r>
            <a:endParaRPr lang="zh-CN" altLang="en-US" sz="1000">
              <a:solidFill>
                <a:srgbClr val="A0B5B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394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刀具预设与 XY 覆盖分析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个可编辑几何预设；红色显示预计未覆盖位置，不是实际材料切除率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U202312256 · 当前程序实拍 · 2026.10.08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常用刀具库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平底 / 球头 / 圆鼻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选择后仍可修改参数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只填几何，进给不变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方形 80×80 mm · D6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栅格方向 0°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XY 分析网格 0.5 mm</a:t>
            </a:r>
            <a:endParaRPr lang="en-US" sz="1700" dirty="0"/>
          </a:p>
        </p:txBody>
      </p:sp>
      <p:pic>
        <p:nvPicPr>
          <p:cNvPr id="8" name="Image 0" descr="E:\CodexTools\Codex\2026-09-23\new-chat\work\toolpath-assignment\qa\update_20261008\coverage_spa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40659"/>
            <a:ext cx="3840480" cy="2976683"/>
          </a:xfrm>
          <a:prstGeom prst="rect">
            <a:avLst/>
          </a:prstGeom>
        </p:spPr>
      </p:pic>
      <p:pic>
        <p:nvPicPr>
          <p:cNvPr id="9" name="Image 1" descr="E:\CodexTools\Codex\2026-09-23\new-chat\work\toolpath-assignment\qa\update_20261008\coverage_d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1940659"/>
            <a:ext cx="3840480" cy="29766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5358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步距 12 mm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840480" y="5733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FF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57.9%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8092440" y="5358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步距 3 mm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092440" y="5733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99.7%</a:t>
            </a:r>
            <a:endParaRPr lang="en-US" sz="25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622A3E-0C54-3026-5FFB-0C0DA33BEC72}"/>
              </a:ext>
            </a:extLst>
          </p:cNvPr>
          <p:cNvSpPr txBox="1"/>
          <p:nvPr/>
        </p:nvSpPr>
        <p:spPr>
          <a:xfrm>
            <a:off x="10934700" y="6413500"/>
            <a:ext cx="723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A0B5BF"/>
                </a:solidFill>
                <a:latin typeface="Microsoft YaHei" panose="020B0503020204020204" pitchFamily="34" charset="-122"/>
              </a:rPr>
              <a:t>12 / 15</a:t>
            </a:r>
            <a:endParaRPr lang="zh-CN" altLang="en-US" sz="1000">
              <a:solidFill>
                <a:srgbClr val="A0B5B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87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仿真显示与警告交互：修复可见问题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闭合连接毛坯顶面、侧壁和底面；关闭提示不关闭检测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U202312256 · 当前程序实拍 · 2026.10.08</a:t>
            </a:r>
            <a:endParaRPr lang="en-US" sz="1000" dirty="0"/>
          </a:p>
        </p:txBody>
      </p:sp>
      <p:pic>
        <p:nvPicPr>
          <p:cNvPr id="5" name="Image 0" descr="E:\CodexTools\Codex\2026-09-23\new-chat\work\toolpath-assignment\qa\update_20261008\stock_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25" y="1664208"/>
            <a:ext cx="5662789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92024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圆形边缘连续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无悬空侧壁碎片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1D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拓扑缓存，播放更新高度</a:t>
            </a:r>
            <a:endParaRPr lang="en-US" sz="2200" dirty="0"/>
          </a:p>
        </p:txBody>
      </p:sp>
      <p:pic>
        <p:nvPicPr>
          <p:cNvPr id="7" name="Image 1" descr="E:\CodexTools\Codex\2026-09-23\new-chat\work\toolpath-assignment\qa\update_20261008\warning_cl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70020"/>
            <a:ext cx="3840480" cy="335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点击右上角 × 隐藏本条提示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新一轮异常仍会提示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EF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碰撞检测与自动暂停继续生效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94360" y="60350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0B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材料切除仍为高度场教学近似，不是任意实体布尔仿真。</a:t>
            </a:r>
            <a:endParaRPr lang="en-US" sz="13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427678-A488-421B-DFFE-5EEAAC85B4EC}"/>
              </a:ext>
            </a:extLst>
          </p:cNvPr>
          <p:cNvSpPr txBox="1"/>
          <p:nvPr/>
        </p:nvSpPr>
        <p:spPr>
          <a:xfrm>
            <a:off x="10934700" y="6413500"/>
            <a:ext cx="7239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A0B5BF"/>
                </a:solidFill>
                <a:latin typeface="Microsoft YaHei" panose="020B0503020204020204" pitchFamily="34" charset="-122"/>
              </a:rPr>
              <a:t>13 / 15</a:t>
            </a:r>
            <a:endParaRPr lang="zh-CN" altLang="en-US" sz="1000">
              <a:solidFill>
                <a:srgbClr val="A0B5B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95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C3FBE9B-D349-40EB-8908-4C3AB2487231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验证结果与使用边界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65A97F-7C2C-4870-A66D-2BF5289E9F47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14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729726824"/>
              </p:ext>
            </p:extLst>
          </p:nvPr>
        </p:nvGraphicFramePr>
        <p:xfrm>
          <a:off x="533400" y="1362075"/>
          <a:ext cx="11125200" cy="2524125"/>
        </p:xfrm>
        <a:graphic>
          <a:graphicData uri="http://schemas.openxmlformats.org/drawingml/2006/table">
            <a:tbl>
              <a:tblPr/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0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验证内容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单元测试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234 </a:t>
                      </a:r>
                      <a:r>
                        <a:rPr lang="zh-CN" altLang="en-US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JavaScript 算法测试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</a:t>
                      </a:r>
                      <a:r>
                        <a:rPr lang="zh-CN" altLang="en-US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界面与案例检查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</a:t>
                      </a:r>
                      <a:r>
                        <a:rPr lang="zh-CN" altLang="en-US"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组浏览器回归：规划、覆盖、网格、警告、碰撞、五轴组合</a:t>
                      </a:r>
                      <a:endParaRPr sz="1800" b="0">
                        <a:solidFill>
                          <a:srgbClr val="F3F7F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C02999A-5343-421B-BBF4-0565DE8E29F2}"/>
              </a:ext>
            </a:extLst>
          </p:cNvPr>
          <p:cNvSpPr>
            <a:spLocks noGrp="1"/>
          </p:cNvSpPr>
          <p:nvPr/>
        </p:nvSpPr>
        <p:spPr>
          <a:xfrm>
            <a:off x="533400" y="4257675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曲面与材料均采用高度场近似。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84D8BE-997A-415F-AAB5-6614AC268AA1}"/>
              </a:ext>
            </a:extLst>
          </p:cNvPr>
          <p:cNvSpPr>
            <a:spLocks noGrp="1"/>
          </p:cNvSpPr>
          <p:nvPr/>
        </p:nvSpPr>
        <p:spPr>
          <a:xfrm>
            <a:off x="533400" y="4848225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五轴输出为教学刀轴与演示 A/B，未包含机床运动学。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E4D3E7-B2EE-4943-8EC8-85FA8B207807}"/>
              </a:ext>
            </a:extLst>
          </p:cNvPr>
          <p:cNvSpPr>
            <a:spLocks noGrp="1"/>
          </p:cNvSpPr>
          <p:nvPr/>
        </p:nvSpPr>
        <p:spPr>
          <a:xfrm>
            <a:off x="533400" y="5562600"/>
            <a:ext cx="111252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NC 不可直接上机，未完成真实加工验证或特定论文完整复现。</a:t>
            </a:r>
          </a:p>
        </p:txBody>
      </p:sp>
    </p:spTree>
    <p:extLst>
      <p:ext uri="{BB962C8B-B14F-4D97-AF65-F5344CB8AC3E}">
        <p14:creationId xmlns:p14="http://schemas.microsoft.com/office/powerpoint/2010/main" val="95932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08C2770-C302-4ECE-B637-A14A7C4FE873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可复现演示与总结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EDF05D-5622-4026-B1EB-276DDB4AA759}"/>
              </a:ext>
            </a:extLst>
          </p:cNvPr>
          <p:cNvSpPr>
            <a:spLocks noGrp="1"/>
          </p:cNvSpPr>
          <p:nvPr/>
        </p:nvSpPr>
        <p:spPr>
          <a:xfrm>
            <a:off x="10934700" y="639127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BCD0D2"/>
                </a:solidFill>
                <a:latin typeface="Microsoft YaHei"/>
                <a:ea typeface="Microsoft YaHei"/>
                <a:cs typeface="Microsoft YaHei"/>
              </a:rPr>
              <a:t>15 / 15</a:t>
            </a:r>
            <a:endParaRPr sz="1350" b="0">
              <a:solidFill>
                <a:srgbClr val="BCD0D2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33400" y="1362075"/>
          <a:ext cx="11125200" cy="28670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40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设置项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示例取值</a:t>
                      </a:r>
                    </a:p>
                  </a:txBody>
                  <a:tcPr anchor="ctr">
                    <a:solidFill>
                      <a:srgbClr val="1B4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刀具与区域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球头刀 D10/L50，80×80 mm 方形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自由曲面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幅值 8 mm，X/Y 波长 80/40 mm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组合策略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目标残留 0.30 mm，步距 0.30～4.00 mm</a:t>
                      </a:r>
                    </a:p>
                  </a:txBody>
                  <a:tcPr anchor="ctr">
                    <a:solidFill>
                      <a:srgbClr val="12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姿态与进给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7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前倾 12°，侧倾 0°，进给 600 mm/min</a:t>
                      </a:r>
                    </a:p>
                  </a:txBody>
                  <a:tcPr anchor="ctr">
                    <a:solidFill>
                      <a:srgbClr val="0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2D0299E-B4C7-43D7-92A1-67CF6DB677F8}"/>
              </a:ext>
            </a:extLst>
          </p:cNvPr>
          <p:cNvSpPr>
            <a:spLocks noGrp="1"/>
          </p:cNvSpPr>
          <p:nvPr/>
        </p:nvSpPr>
        <p:spPr>
          <a:xfrm>
            <a:off x="533400" y="4667250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1D1BD"/>
                </a:solidFill>
                <a:latin typeface="Microsoft YaHei"/>
                <a:ea typeface="Microsoft YaHei"/>
                <a:cs typeface="Microsoft YaHei"/>
              </a:rPr>
              <a:t>上视图观察疏密，侧视播放观察刀轴。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CFCCD5-83BA-44FF-BE1B-3479C5E03FF1}"/>
              </a:ext>
            </a:extLst>
          </p:cNvPr>
          <p:cNvSpPr>
            <a:spLocks noGrp="1"/>
          </p:cNvSpPr>
          <p:nvPr/>
        </p:nvSpPr>
        <p:spPr>
          <a:xfrm>
            <a:off x="533400" y="5429250"/>
            <a:ext cx="11125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7F5"/>
                </a:solidFill>
                <a:latin typeface="Microsoft YaHei"/>
                <a:ea typeface="Microsoft YaHei"/>
                <a:cs typeface="Microsoft YaHei"/>
              </a:rPr>
              <a:t>可在同一模型上比较刀路，结合姿态与余料检查加工过程。</a:t>
            </a:r>
          </a:p>
        </p:txBody>
      </p:sp>
    </p:spTree>
    <p:extLst>
      <p:ext uri="{BB962C8B-B14F-4D97-AF65-F5344CB8AC3E}">
        <p14:creationId xmlns:p14="http://schemas.microsoft.com/office/powerpoint/2010/main" val="1591129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</Words>
  <Application>Microsoft Office PowerPoint</Application>
  <DocSecurity>0</DocSecurity>
  <PresentationFormat>宽屏</PresentationFormat>
  <Paragraphs>198</Paragraphs>
  <Slides>15</Slides>
  <Notes>15</Notes>
  <HiddenSlides>0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锌 王</cp:lastModifiedBy>
  <cp:revision>3</cp:revision>
  <dcterms:created xsi:type="dcterms:W3CDTF">2026-10-04T13:25:46Z</dcterms:created>
  <dcterms:modified xsi:type="dcterms:W3CDTF">2026-10-08T11:17:12Z</dcterms:modified>
</cp:coreProperties>
</file>